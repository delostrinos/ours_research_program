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8"/>
  </p:notesMasterIdLst>
  <p:sldIdLst>
    <p:sldId id="256" r:id="rId2"/>
    <p:sldId id="257" r:id="rId3"/>
    <p:sldId id="258" r:id="rId4"/>
    <p:sldId id="259" r:id="rId5"/>
    <p:sldId id="260" r:id="rId6"/>
    <p:sldId id="261" r:id="rId7"/>
    <p:sldId id="262" r:id="rId8"/>
    <p:sldId id="265" r:id="rId9"/>
    <p:sldId id="264" r:id="rId10"/>
    <p:sldId id="263" r:id="rId11"/>
    <p:sldId id="267" r:id="rId12"/>
    <p:sldId id="268" r:id="rId13"/>
    <p:sldId id="269" r:id="rId14"/>
    <p:sldId id="270" r:id="rId15"/>
    <p:sldId id="271" r:id="rId16"/>
    <p:sldId id="272" r:id="rId17"/>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1"/>
  </p:normalViewPr>
  <p:slideViewPr>
    <p:cSldViewPr snapToGrid="0">
      <p:cViewPr varScale="1">
        <p:scale>
          <a:sx n="107" d="100"/>
          <a:sy n="107" d="100"/>
        </p:scale>
        <p:origin x="256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Thanks everyone. Quick recap of where we are. The project is about getting a machine to rediscover known mathematical formulas straight from data — not by being told the formula, but by inferring it. Today I'll walk through the three stages we built: a polynomial, then e to the t, then e to the a-t. The headline: the pipeline works end to end, and we mapped out exactly why it gets hard and how to fix it.</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 name="Google Shape;2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whole idea in one slide. We never hand the machine the formula. We give it data and a hypothesis space — a Vandermonde matrix whose columns are every candidate polynomial term — and it solves D times c equals b for the coefficients c. The key point: those coefficients ARE the discovery. A normal curve fit just draws a line through points. What we do reads off the structure — which terms exist and their exact values — and that structure turns out to be known mathematical truth. The teaser: in Stage two the coefficients come out as one, one, a half, a sixth, which is literally the Taylor series of e to the t.</a:t>
            </a:r>
            <a:endParaRPr/>
          </a:p>
        </p:txBody>
      </p:sp>
      <p:sp>
        <p:nvSpPr>
          <p:cNvPr id="25" name="Google Shape;2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pipeline plus the roadmap on one slide. LSSR stands for Least Squares, Sparsify, Refine. Step one, generate trustworthy data. Step two, least squares for all candidate coefficients. Step three, sparsify — threshold away anything below epsilon. Step four, refine on the survivors. One thing to flag: we deliberately do NOT use LASSO or ISTA; the proposal's method is this naive thresholding. Along the bottom is our three-stage plan, each adding one new difficulty: Stage one a finite polynomial, Stage two e-to-the-t which brings truncation error, Stage three e-to-the-a-t which brings sparsity and collinearity.</a:t>
            </a:r>
            <a:endParaRPr/>
          </a:p>
        </p:txBody>
      </p:sp>
      <p:sp>
        <p:nvSpPr>
          <p:cNvPr id="43" name="Google Shape;4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Stage one, the sanity check. We picked an ODE whose solution we already know — t plus t-squared — so we can verify the machine gets it right. Euler's method builds the data, the amber dots, which hug the true curve. Least squares recovers c-one equals zero-point-nine-nine and c-two equals one, with everything else at machine zero, ten-to-the-minus-fifteen. So the machine correctly found t plus t-squared and nothing else. Note we didn't even need the sparsify step here, because this problem is well-conditioned. That changes in Stage three.</a:t>
            </a:r>
            <a:endParaRPr/>
          </a:p>
        </p:txBody>
      </p:sp>
      <p:sp>
        <p:nvSpPr>
          <p:cNvPr id="91" name="Google Shape;9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Stage two, e to the t. Now the true answer is an infinite series but our hypothesis is finite, so the top terms get distorted — that's truncation. The chart is log scale, each gridline a factor of a hundred. Three knobs fix it. One: swapping Euler for exact data barely moved the error — a key finding, it proves the problem is structural, not data quality. Two: raising the degree from four to seven pushes the distortion to high-order terms we don't care about. Three: shrinking the window makes high powers tiny, about a ten-fold drop. With those applied, the coefficients match one-over-n-factorial to nine decimals — the machine rediscovered the Taylor series of e to the t from data.</a:t>
            </a:r>
            <a:endParaRPr/>
          </a:p>
        </p:txBody>
      </p:sp>
      <p:sp>
        <p:nvSpPr>
          <p:cNvPr id="106" name="Google Shape;10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Here's the fix and the result together. We shrink the time window to zero-to-zero-point-five, which improves conditioning enough that the coefficients separate — now the smallest real term sits above the biggest junk term, so a threshold of zero-point-three-eight cleanly works. On the left is the true diagonal, on the right what LSSR recovered. The sparsify step picked exactly the right support — columns zero, five, ten, fifteen — which is precisely the diagonal, proving the structure of e to the a-t. Being honest about the frontier: the two smallest one-over-n-factorial terms are still a bit off, zero-point-four-five versus zero-point-five and zero-point-two-six versus zero-point-one-seven, because they sit near the threshold floor. The structure is right; those two values are our open problem.</a:t>
            </a:r>
            <a:endParaRPr/>
          </a:p>
        </p:txBody>
      </p:sp>
      <p:sp>
        <p:nvSpPr>
          <p:cNvPr id="166" name="Google Shape;16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Stage three, e to the a-t. The big change is two variables, a and t. Every term pairs a power of a with a power of t, so the hypothesis becomes a four-by-four grid — sixteen candidates. The structure we're hunting: the true answer is diagonal, nonzero only when the powers match, with value one-over-n-factorial; the other twelve cells must be zero. But plain least squares falls apart — the chart shows it. The teal bars are the diagonal terms we want, the dashes are their true targets, and the coral bars are junk that should be zero but is huge. The worst junk hits minus one-point-two-four, bigger than a real term at zero-point-nine-five, so no single threshold can separate signal from junk. And it's exact data — so it's the matrix, collinearity, not the data.</a:t>
            </a:r>
            <a:endParaRPr/>
          </a:p>
        </p:txBody>
      </p:sp>
      <p:sp>
        <p:nvSpPr>
          <p:cNvPr id="152" name="Google Shape;15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our a-equals-one experiment, in learn_exp_afixed.py. Fixing a to one turns e-to-the-a-t back into plain e-to-the-t, collapsing to a single variable, and he pushes the degree to ten. The key point: e-to-the-t is infinite but the Vandermonde is finite, so high-order terms are approximations. Now the result, and it's an important correction to how we first described it. The QR/SVD solver, the teal line, recovers one-over-n-factorial beautifully. The normal-equations solver, coral, blows up past n equals four — total error four-point-one versus one-times-ten-to-the-minus-six. Same data; the difference is that normal equations form D-transpose-D, squaring the condition number. We initially said the accuracy dwindles due to noise — but the data is exact, there's no measurement noise. The high-order terms degrade because the true coefficients shrink to the floating-point floor, one-over-ten-factorial is about three-times-ten-to-the-minus-seven, plus conditioning. It's a numerical limit, not noise — and notice more data made normal equations worse, reinforcing the gremlin slide.</a:t>
            </a:r>
            <a:endParaRPr/>
          </a:p>
        </p:txBody>
      </p:sp>
      <p:sp>
        <p:nvSpPr>
          <p:cNvPr id="201" name="Google Shape;2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word on methodology. To validate the approach, Mikhail and I each implemented the assigned problem independently — separately, without looking at each other's code — then compared. We've been calling it a double-blind test; more precisely it's an independent, or blind, parallel replication. The value is that independent bugs don't survive agreement: if two separately-written programs land on the same answer, it's the method being validated, not one person's code. And both of us independently converged on the numerically stable SVD least-squares solve. His file, learn_exp_afixed.py, is his version of the e-to-the-a-t problem, with a fixed to one.</a:t>
            </a:r>
            <a:endParaRPr/>
          </a:p>
        </p:txBody>
      </p:sp>
      <p:sp>
        <p:nvSpPr>
          <p:cNvPr id="180" name="Google Shape;18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Before Stage three, this is the conceptual core — the thing I most want you to take away. There are three separate failure modes that people often conflate. One, underdetermination: too few equations for the unknowns — fixed just by having enough data, fifteen hundred points for sixteen unknowns. Two, truncation: an infinite series in a finite basis — fixed by the degree and window knobs. Three, collinearity: the columns are too similar, so least squares can't tell them apart and smears the weight. The crucial point: collinearity is NOT fixed by more data — that's what sparsification is for. Only the first gremlin cares about data quantity.</a:t>
            </a:r>
            <a:endParaRPr/>
          </a:p>
        </p:txBody>
      </p:sp>
      <p:sp>
        <p:nvSpPr>
          <p:cNvPr id="128" name="Google Shape;12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Shape 15"/>
        <p:cNvGrpSpPr/>
        <p:nvPr/>
      </p:nvGrpSpPr>
      <p:grpSpPr>
        <a:xfrm>
          <a:off x="0" y="0"/>
          <a:ext cx="0" cy="0"/>
          <a:chOff x="0" y="0"/>
          <a:chExt cx="0" cy="0"/>
        </a:xfrm>
      </p:grpSpPr>
      <p:sp>
        <p:nvSpPr>
          <p:cNvPr id="16" name="Google Shape;16;p3"/>
          <p:cNvSpPr/>
          <p:nvPr/>
        </p:nvSpPr>
        <p:spPr>
          <a:xfrm>
            <a:off x="9509760" y="-1554480"/>
            <a:ext cx="4754880" cy="4754880"/>
          </a:xfrm>
          <a:prstGeom prst="ellipse">
            <a:avLst/>
          </a:prstGeom>
          <a:solidFill>
            <a:srgbClr val="2B39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0607040" y="4206240"/>
            <a:ext cx="3291840" cy="3291840"/>
          </a:xfrm>
          <a:prstGeom prst="ellipse">
            <a:avLst/>
          </a:prstGeom>
          <a:solidFill>
            <a:srgbClr val="2633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731520" y="1463040"/>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400"/>
              <a:buFont typeface="Calibri"/>
              <a:buNone/>
            </a:pPr>
            <a:r>
              <a:rPr lang="en-US" sz="1400" b="1" i="0" u="none" strike="noStrike" cap="none">
                <a:solidFill>
                  <a:srgbClr val="F4A300"/>
                </a:solidFill>
                <a:latin typeface="Calibri"/>
                <a:ea typeface="Calibri"/>
                <a:cs typeface="Calibri"/>
                <a:sym typeface="Calibri"/>
              </a:rPr>
              <a:t>UNDERGRADUATE RESEARCH  ·  OURS PROJECT</a:t>
            </a:r>
            <a:endParaRPr sz="1400" b="0" i="0" u="none" strike="noStrike" cap="none">
              <a:solidFill>
                <a:schemeClr val="dk1"/>
              </a:solidFill>
              <a:latin typeface="Calibri"/>
              <a:ea typeface="Calibri"/>
              <a:cs typeface="Calibri"/>
              <a:sym typeface="Calibri"/>
            </a:endParaRPr>
          </a:p>
        </p:txBody>
      </p:sp>
      <p:sp>
        <p:nvSpPr>
          <p:cNvPr id="19" name="Google Shape;19;p3"/>
          <p:cNvSpPr/>
          <p:nvPr/>
        </p:nvSpPr>
        <p:spPr>
          <a:xfrm>
            <a:off x="731520" y="2011680"/>
            <a:ext cx="10424160" cy="1828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4600"/>
              <a:buFont typeface="Cambria"/>
              <a:buNone/>
            </a:pPr>
            <a:r>
              <a:rPr lang="en-US" sz="4600" b="1" i="0" u="none" strike="noStrike" cap="none">
                <a:solidFill>
                  <a:srgbClr val="FFFFFF"/>
                </a:solidFill>
                <a:latin typeface="Cambria"/>
                <a:ea typeface="Cambria"/>
                <a:cs typeface="Cambria"/>
                <a:sym typeface="Cambria"/>
              </a:rPr>
              <a:t>Learning Mathematics</a:t>
            </a:r>
            <a:endParaRPr sz="4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FFFFF"/>
              </a:buClr>
              <a:buSzPts val="4600"/>
              <a:buFont typeface="Cambria"/>
              <a:buNone/>
            </a:pPr>
            <a:r>
              <a:rPr lang="en-US" sz="4600" b="1" i="0" u="none" strike="noStrike" cap="none">
                <a:solidFill>
                  <a:srgbClr val="FFFFFF"/>
                </a:solidFill>
                <a:latin typeface="Cambria"/>
                <a:ea typeface="Cambria"/>
                <a:cs typeface="Cambria"/>
                <a:sym typeface="Cambria"/>
              </a:rPr>
              <a:t>Through the Machine</a:t>
            </a:r>
            <a:endParaRPr sz="4600" b="0" i="0" u="none" strike="noStrike" cap="none">
              <a:solidFill>
                <a:schemeClr val="dk1"/>
              </a:solidFill>
              <a:latin typeface="Calibri"/>
              <a:ea typeface="Calibri"/>
              <a:cs typeface="Calibri"/>
              <a:sym typeface="Calibri"/>
            </a:endParaRPr>
          </a:p>
        </p:txBody>
      </p:sp>
      <p:sp>
        <p:nvSpPr>
          <p:cNvPr id="20" name="Google Shape;20;p3"/>
          <p:cNvSpPr/>
          <p:nvPr/>
        </p:nvSpPr>
        <p:spPr>
          <a:xfrm>
            <a:off x="749808" y="3977640"/>
            <a:ext cx="9601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900"/>
              <a:buFont typeface="Calibri"/>
              <a:buNone/>
            </a:pPr>
            <a:r>
              <a:rPr lang="en-US" sz="1900" b="0" i="1" u="none" strike="noStrike" cap="none">
                <a:solidFill>
                  <a:srgbClr val="CADCFC"/>
                </a:solidFill>
                <a:latin typeface="Calibri"/>
                <a:ea typeface="Calibri"/>
                <a:cs typeface="Calibri"/>
                <a:sym typeface="Calibri"/>
              </a:rPr>
              <a:t>Rediscovering closed-form mathematics from data with the LSSR pipeline</a:t>
            </a:r>
            <a:endParaRPr sz="1900" b="0" i="0" u="none" strike="noStrike" cap="none">
              <a:solidFill>
                <a:schemeClr val="dk1"/>
              </a:solidFill>
              <a:latin typeface="Calibri"/>
              <a:ea typeface="Calibri"/>
              <a:cs typeface="Calibri"/>
              <a:sym typeface="Calibri"/>
            </a:endParaRPr>
          </a:p>
        </p:txBody>
      </p:sp>
      <p:sp>
        <p:nvSpPr>
          <p:cNvPr id="21" name="Google Shape;21;p3"/>
          <p:cNvSpPr/>
          <p:nvPr/>
        </p:nvSpPr>
        <p:spPr>
          <a:xfrm>
            <a:off x="749808" y="5120640"/>
            <a:ext cx="10058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Rainne &amp; Mikhail</a:t>
            </a:r>
            <a:r>
              <a:rPr lang="en-US" sz="1500" b="0" i="0" u="none" strike="noStrike" cap="none">
                <a:solidFill>
                  <a:srgbClr val="AAB6D3"/>
                </a:solidFill>
                <a:latin typeface="Calibri"/>
                <a:ea typeface="Calibri"/>
                <a:cs typeface="Calibri"/>
                <a:sym typeface="Calibri"/>
              </a:rPr>
              <a:t>     Advisor: Dr. Jimmie Adriazola, ASU</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4"/>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THE CORE IDEA</a:t>
            </a:r>
            <a:endParaRPr sz="1300" b="0" i="0" u="none" strike="noStrike" cap="none">
              <a:solidFill>
                <a:schemeClr val="dk1"/>
              </a:solidFill>
              <a:latin typeface="Calibri"/>
              <a:ea typeface="Calibri"/>
              <a:cs typeface="Calibri"/>
              <a:sym typeface="Calibri"/>
            </a:endParaRPr>
          </a:p>
        </p:txBody>
      </p:sp>
      <p:sp>
        <p:nvSpPr>
          <p:cNvPr id="28" name="Google Shape;28;p4"/>
          <p:cNvSpPr/>
          <p:nvPr/>
        </p:nvSpPr>
        <p:spPr>
          <a:xfrm>
            <a:off x="548640" y="749808"/>
            <a:ext cx="1133856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The machine discovers the coefficients —</a:t>
            </a:r>
            <a:endParaRPr sz="2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and the coefficients are the answer</a:t>
            </a:r>
            <a:endParaRPr sz="2900" b="0" i="0" u="none" strike="noStrike" cap="none">
              <a:solidFill>
                <a:schemeClr val="dk1"/>
              </a:solidFill>
              <a:latin typeface="Calibri"/>
              <a:ea typeface="Calibri"/>
              <a:cs typeface="Calibri"/>
              <a:sym typeface="Calibri"/>
            </a:endParaRPr>
          </a:p>
        </p:txBody>
      </p:sp>
      <p:sp>
        <p:nvSpPr>
          <p:cNvPr id="29" name="Google Shape;29;p4"/>
          <p:cNvSpPr/>
          <p:nvPr/>
        </p:nvSpPr>
        <p:spPr>
          <a:xfrm>
            <a:off x="548640" y="2148840"/>
            <a:ext cx="5486400" cy="118872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1F2A44"/>
              </a:buClr>
              <a:buSzPts val="1600"/>
              <a:buFont typeface="Calibri"/>
              <a:buNone/>
            </a:pPr>
            <a:r>
              <a:rPr lang="en-US" sz="1600" b="1" i="0" u="none" strike="noStrike" cap="none">
                <a:solidFill>
                  <a:srgbClr val="1F2A44"/>
                </a:solidFill>
                <a:latin typeface="Calibri"/>
                <a:ea typeface="Calibri"/>
                <a:cs typeface="Calibri"/>
                <a:sym typeface="Calibri"/>
              </a:rPr>
              <a:t>We never tell the machine the formula. </a:t>
            </a:r>
            <a:r>
              <a:rPr lang="en-US" sz="1600" b="0" i="0" u="none" strike="noStrike" cap="none">
                <a:solidFill>
                  <a:srgbClr val="22272E"/>
                </a:solidFill>
                <a:latin typeface="Calibri"/>
                <a:ea typeface="Calibri"/>
                <a:cs typeface="Calibri"/>
                <a:sym typeface="Calibri"/>
              </a:rPr>
              <a:t>We give it data and a hypothesis space — every candidate polynomial term — and it solves for how much of each term it needs.</a:t>
            </a:r>
            <a:endParaRPr sz="1600" b="0" i="0" u="none" strike="noStrike" cap="none">
              <a:solidFill>
                <a:schemeClr val="dk1"/>
              </a:solidFill>
              <a:latin typeface="Calibri"/>
              <a:ea typeface="Calibri"/>
              <a:cs typeface="Calibri"/>
              <a:sym typeface="Calibri"/>
            </a:endParaRPr>
          </a:p>
        </p:txBody>
      </p:sp>
      <p:sp>
        <p:nvSpPr>
          <p:cNvPr id="30" name="Google Shape;30;p4"/>
          <p:cNvSpPr/>
          <p:nvPr/>
        </p:nvSpPr>
        <p:spPr>
          <a:xfrm>
            <a:off x="548640" y="3520440"/>
            <a:ext cx="5486400" cy="2377440"/>
          </a:xfrm>
          <a:prstGeom prst="roundRect">
            <a:avLst>
              <a:gd name="adj" fmla="val 4615"/>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548640" y="3703320"/>
            <a:ext cx="548640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A44"/>
              </a:buClr>
              <a:buSzPts val="4000"/>
              <a:buFont typeface="Cambria"/>
              <a:buNone/>
            </a:pPr>
            <a:r>
              <a:rPr lang="en-US" sz="4000" b="1" i="0" u="none" strike="noStrike" cap="none">
                <a:solidFill>
                  <a:srgbClr val="1F2A44"/>
                </a:solidFill>
                <a:latin typeface="Cambria"/>
                <a:ea typeface="Cambria"/>
                <a:cs typeface="Cambria"/>
                <a:sym typeface="Cambria"/>
              </a:rPr>
              <a:t>D</a:t>
            </a:r>
            <a:r>
              <a:rPr lang="en-US" sz="4000" b="1" i="0" u="none" strike="noStrike" cap="none">
                <a:solidFill>
                  <a:srgbClr val="F4A300"/>
                </a:solidFill>
                <a:latin typeface="Cambria"/>
                <a:ea typeface="Cambria"/>
                <a:cs typeface="Cambria"/>
                <a:sym typeface="Cambria"/>
              </a:rPr>
              <a:t> c </a:t>
            </a:r>
            <a:r>
              <a:rPr lang="en-US" sz="4000" b="0" i="0" u="none" strike="noStrike" cap="none">
                <a:solidFill>
                  <a:srgbClr val="22272E"/>
                </a:solidFill>
                <a:latin typeface="Cambria"/>
                <a:ea typeface="Cambria"/>
                <a:cs typeface="Cambria"/>
                <a:sym typeface="Cambria"/>
              </a:rPr>
              <a:t>= </a:t>
            </a:r>
            <a:r>
              <a:rPr lang="en-US" sz="4000" b="1" i="0" u="none" strike="noStrike" cap="none">
                <a:solidFill>
                  <a:srgbClr val="2A9D8F"/>
                </a:solidFill>
                <a:latin typeface="Cambria"/>
                <a:ea typeface="Cambria"/>
                <a:cs typeface="Cambria"/>
                <a:sym typeface="Cambria"/>
              </a:rPr>
              <a:t>b</a:t>
            </a:r>
            <a:endParaRPr sz="4000" b="0" i="0" u="none" strike="noStrike" cap="none">
              <a:solidFill>
                <a:schemeClr val="dk1"/>
              </a:solidFill>
              <a:latin typeface="Calibri"/>
              <a:ea typeface="Calibri"/>
              <a:cs typeface="Calibri"/>
              <a:sym typeface="Calibri"/>
            </a:endParaRPr>
          </a:p>
        </p:txBody>
      </p:sp>
      <p:sp>
        <p:nvSpPr>
          <p:cNvPr id="32" name="Google Shape;32;p4"/>
          <p:cNvSpPr/>
          <p:nvPr/>
        </p:nvSpPr>
        <p:spPr>
          <a:xfrm>
            <a:off x="1371600" y="4617720"/>
            <a:ext cx="4023360" cy="109728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F2A44"/>
              </a:buClr>
              <a:buSzPts val="1500"/>
              <a:buFont typeface="Calibri"/>
              <a:buNone/>
            </a:pPr>
            <a:r>
              <a:rPr lang="en-US" sz="1500" b="1" i="0" u="none" strike="noStrike" cap="none">
                <a:solidFill>
                  <a:srgbClr val="1F2A44"/>
                </a:solidFill>
                <a:latin typeface="Calibri"/>
                <a:ea typeface="Calibri"/>
                <a:cs typeface="Calibri"/>
                <a:sym typeface="Calibri"/>
              </a:rPr>
              <a:t>D</a:t>
            </a:r>
            <a:r>
              <a:rPr lang="en-US" sz="1500" b="0" i="0" u="none" strike="noStrike" cap="none">
                <a:solidFill>
                  <a:srgbClr val="22272E"/>
                </a:solidFill>
                <a:latin typeface="Calibri"/>
                <a:ea typeface="Calibri"/>
                <a:cs typeface="Calibri"/>
                <a:sym typeface="Calibri"/>
              </a:rPr>
              <a:t>  candidate terms (Vandermonde </a:t>
            </a:r>
            <a:r>
              <a:rPr lang="en-US" sz="1500">
                <a:solidFill>
                  <a:srgbClr val="22272E"/>
                </a:solidFill>
                <a:latin typeface="Calibri"/>
                <a:ea typeface="Calibri"/>
                <a:cs typeface="Calibri"/>
                <a:sym typeface="Calibri"/>
              </a:rPr>
              <a:t>matrix</a:t>
            </a:r>
            <a:r>
              <a:rPr lang="en-US" sz="1500" b="0" i="0" u="none" strike="noStrike" cap="none">
                <a:solidFill>
                  <a:srgbClr val="22272E"/>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F4A300"/>
              </a:buClr>
              <a:buSzPts val="1500"/>
              <a:buFont typeface="Calibri"/>
              <a:buNone/>
            </a:pPr>
            <a:r>
              <a:rPr lang="en-US" sz="1500" b="1" i="0" u="none" strike="noStrike" cap="none">
                <a:solidFill>
                  <a:srgbClr val="F4A300"/>
                </a:solidFill>
                <a:latin typeface="Calibri"/>
                <a:ea typeface="Calibri"/>
                <a:cs typeface="Calibri"/>
                <a:sym typeface="Calibri"/>
              </a:rPr>
              <a:t>c</a:t>
            </a:r>
            <a:r>
              <a:rPr lang="en-US" sz="1500" b="0" i="0" u="none" strike="noStrike" cap="none">
                <a:solidFill>
                  <a:srgbClr val="22272E"/>
                </a:solidFill>
                <a:latin typeface="Calibri"/>
                <a:ea typeface="Calibri"/>
                <a:cs typeface="Calibri"/>
                <a:sym typeface="Calibri"/>
              </a:rPr>
              <a:t>   coefficients — the discovery</a:t>
            </a:r>
            <a:endParaRPr sz="15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2A9D8F"/>
              </a:buClr>
              <a:buSzPts val="1500"/>
              <a:buFont typeface="Calibri"/>
              <a:buNone/>
            </a:pPr>
            <a:r>
              <a:rPr lang="en-US" sz="1500" b="1" i="0" u="none" strike="noStrike" cap="none">
                <a:solidFill>
                  <a:srgbClr val="2A9D8F"/>
                </a:solidFill>
                <a:latin typeface="Calibri"/>
                <a:ea typeface="Calibri"/>
                <a:cs typeface="Calibri"/>
                <a:sym typeface="Calibri"/>
              </a:rPr>
              <a:t>b</a:t>
            </a:r>
            <a:r>
              <a:rPr lang="en-US" sz="1500" b="0" i="0" u="none" strike="noStrike" cap="none">
                <a:solidFill>
                  <a:srgbClr val="22272E"/>
                </a:solidFill>
                <a:latin typeface="Calibri"/>
                <a:ea typeface="Calibri"/>
                <a:cs typeface="Calibri"/>
                <a:sym typeface="Calibri"/>
              </a:rPr>
              <a:t>   the data we must explain</a:t>
            </a:r>
            <a:endParaRPr sz="1500" b="0" i="0" u="none" strike="noStrike" cap="none">
              <a:solidFill>
                <a:schemeClr val="dk1"/>
              </a:solidFill>
              <a:latin typeface="Calibri"/>
              <a:ea typeface="Calibri"/>
              <a:cs typeface="Calibri"/>
              <a:sym typeface="Calibri"/>
            </a:endParaRPr>
          </a:p>
        </p:txBody>
      </p:sp>
      <p:sp>
        <p:nvSpPr>
          <p:cNvPr id="33" name="Google Shape;33;p4"/>
          <p:cNvSpPr/>
          <p:nvPr/>
        </p:nvSpPr>
        <p:spPr>
          <a:xfrm>
            <a:off x="6400800" y="2148840"/>
            <a:ext cx="5212080" cy="3749040"/>
          </a:xfrm>
          <a:prstGeom prst="roundRect">
            <a:avLst>
              <a:gd name="adj" fmla="val 2927"/>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6675120" y="2331720"/>
            <a:ext cx="46634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800"/>
              <a:buFont typeface="Cambria"/>
              <a:buNone/>
            </a:pPr>
            <a:r>
              <a:rPr lang="en-US" sz="1800" b="1" i="0" u="none" strike="noStrike" cap="none">
                <a:solidFill>
                  <a:srgbClr val="1F2A44"/>
                </a:solidFill>
                <a:latin typeface="Cambria"/>
                <a:ea typeface="Cambria"/>
                <a:cs typeface="Cambria"/>
                <a:sym typeface="Cambria"/>
              </a:rPr>
              <a:t>Curve-fitting vs. discovery</a:t>
            </a:r>
            <a:endParaRPr sz="1800" b="0" i="0" u="none" strike="noStrike" cap="none">
              <a:solidFill>
                <a:schemeClr val="dk1"/>
              </a:solidFill>
              <a:latin typeface="Calibri"/>
              <a:ea typeface="Calibri"/>
              <a:cs typeface="Calibri"/>
              <a:sym typeface="Calibri"/>
            </a:endParaRPr>
          </a:p>
        </p:txBody>
      </p:sp>
      <p:sp>
        <p:nvSpPr>
          <p:cNvPr id="35" name="Google Shape;35;p4"/>
          <p:cNvSpPr/>
          <p:nvPr/>
        </p:nvSpPr>
        <p:spPr>
          <a:xfrm>
            <a:off x="6675120" y="2834640"/>
            <a:ext cx="4663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51"/>
              </a:buClr>
              <a:buSzPts val="1500"/>
              <a:buFont typeface="Calibri"/>
              <a:buNone/>
            </a:pPr>
            <a:r>
              <a:rPr lang="en-US" sz="1500" b="1" i="0" u="none" strike="noStrike" cap="none">
                <a:solidFill>
                  <a:srgbClr val="E76F51"/>
                </a:solidFill>
                <a:latin typeface="Calibri"/>
                <a:ea typeface="Calibri"/>
                <a:cs typeface="Calibri"/>
                <a:sym typeface="Calibri"/>
              </a:rPr>
              <a:t>A curve fit </a:t>
            </a:r>
            <a:r>
              <a:rPr lang="en-US" sz="1500" b="0" i="0" u="none" strike="noStrike" cap="none">
                <a:solidFill>
                  <a:srgbClr val="22272E"/>
                </a:solidFill>
                <a:latin typeface="Calibri"/>
                <a:ea typeface="Calibri"/>
                <a:cs typeface="Calibri"/>
                <a:sym typeface="Calibri"/>
              </a:rPr>
              <a:t>draws a line through points.</a:t>
            </a:r>
            <a:endParaRPr sz="1500" b="0" i="0" u="none" strike="noStrike" cap="none">
              <a:solidFill>
                <a:schemeClr val="dk1"/>
              </a:solidFill>
              <a:latin typeface="Calibri"/>
              <a:ea typeface="Calibri"/>
              <a:cs typeface="Calibri"/>
              <a:sym typeface="Calibri"/>
            </a:endParaRPr>
          </a:p>
        </p:txBody>
      </p:sp>
      <p:sp>
        <p:nvSpPr>
          <p:cNvPr id="36" name="Google Shape;36;p4"/>
          <p:cNvSpPr/>
          <p:nvPr/>
        </p:nvSpPr>
        <p:spPr>
          <a:xfrm>
            <a:off x="6675120" y="3383280"/>
            <a:ext cx="4663440" cy="10972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A9D8F"/>
              </a:buClr>
              <a:buSzPts val="1500"/>
              <a:buFont typeface="Calibri"/>
              <a:buNone/>
            </a:pPr>
            <a:r>
              <a:rPr lang="en-US" sz="1500" b="1" i="0" u="none" strike="noStrike" cap="none">
                <a:solidFill>
                  <a:srgbClr val="2A9D8F"/>
                </a:solidFill>
                <a:latin typeface="Calibri"/>
                <a:ea typeface="Calibri"/>
                <a:cs typeface="Calibri"/>
                <a:sym typeface="Calibri"/>
              </a:rPr>
              <a:t>This reads off the structure</a:t>
            </a:r>
            <a:endParaRPr sz="15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22272E"/>
              </a:buClr>
              <a:buSzPts val="1500"/>
              <a:buFont typeface="Calibri"/>
              <a:buNone/>
            </a:pPr>
            <a:r>
              <a:rPr lang="en-US" sz="1500" b="0" i="0" u="none" strike="noStrike" cap="none">
                <a:solidFill>
                  <a:srgbClr val="22272E"/>
                </a:solidFill>
                <a:latin typeface="Calibri"/>
                <a:ea typeface="Calibri"/>
                <a:cs typeface="Calibri"/>
                <a:sym typeface="Calibri"/>
              </a:rPr>
              <a:t>— which terms exist and their exact values — and that structure is known mathematical truth.</a:t>
            </a:r>
            <a:endParaRPr sz="1500" b="0" i="0" u="none" strike="noStrike" cap="none">
              <a:solidFill>
                <a:schemeClr val="dk1"/>
              </a:solidFill>
              <a:latin typeface="Calibri"/>
              <a:ea typeface="Calibri"/>
              <a:cs typeface="Calibri"/>
              <a:sym typeface="Calibri"/>
            </a:endParaRPr>
          </a:p>
        </p:txBody>
      </p:sp>
      <p:sp>
        <p:nvSpPr>
          <p:cNvPr id="37" name="Google Shape;37;p4"/>
          <p:cNvSpPr/>
          <p:nvPr/>
        </p:nvSpPr>
        <p:spPr>
          <a:xfrm>
            <a:off x="6675120" y="4663440"/>
            <a:ext cx="4663440" cy="1005840"/>
          </a:xfrm>
          <a:prstGeom prst="rect">
            <a:avLst/>
          </a:prstGeom>
          <a:solidFill>
            <a:srgbClr val="F2F5FA"/>
          </a:solidFill>
          <a:ln>
            <a:noFill/>
          </a:ln>
        </p:spPr>
        <p:txBody>
          <a:bodyPr spcFirstLastPara="1" wrap="square" lIns="101600" tIns="101600" rIns="101600" bIns="101600" anchor="ctr" anchorCtr="0">
            <a:noAutofit/>
          </a:bodyPr>
          <a:lstStyle/>
          <a:p>
            <a:pPr marL="0" marR="0" lvl="0" indent="0" algn="l" rtl="0">
              <a:spcBef>
                <a:spcPts val="0"/>
              </a:spcBef>
              <a:spcAft>
                <a:spcPts val="0"/>
              </a:spcAft>
              <a:buClr>
                <a:srgbClr val="1F2A44"/>
              </a:buClr>
              <a:buSzPts val="1400"/>
              <a:buFont typeface="Calibri"/>
              <a:buNone/>
            </a:pPr>
            <a:r>
              <a:rPr lang="en-US" sz="1400" b="0" i="1" u="none" strike="noStrike" cap="none">
                <a:solidFill>
                  <a:srgbClr val="1F2A44"/>
                </a:solidFill>
                <a:latin typeface="Calibri"/>
                <a:ea typeface="Calibri"/>
                <a:cs typeface="Calibri"/>
                <a:sym typeface="Calibri"/>
              </a:rPr>
              <a:t>Stage 2 preview:  the coefficients come out 1, 1, ½, 1⁄6 …  =  the Taylor series of eᵗ, rediscovered from nothing but data.</a:t>
            </a:r>
            <a:endParaRPr sz="1400" b="0" i="0" u="none" strike="noStrike" cap="none">
              <a:solidFill>
                <a:schemeClr val="dk1"/>
              </a:solidFill>
              <a:latin typeface="Calibri"/>
              <a:ea typeface="Calibri"/>
              <a:cs typeface="Calibri"/>
              <a:sym typeface="Calibri"/>
            </a:endParaRPr>
          </a:p>
        </p:txBody>
      </p:sp>
      <p:sp>
        <p:nvSpPr>
          <p:cNvPr id="38" name="Google Shape;38;p4"/>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39" name="Google Shape;39;p4"/>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2</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
        <p:cNvGrpSpPr/>
        <p:nvPr/>
      </p:nvGrpSpPr>
      <p:grpSpPr>
        <a:xfrm>
          <a:off x="0" y="0"/>
          <a:ext cx="0" cy="0"/>
          <a:chOff x="0" y="0"/>
          <a:chExt cx="0" cy="0"/>
        </a:xfrm>
      </p:grpSpPr>
      <p:sp>
        <p:nvSpPr>
          <p:cNvPr id="45" name="Google Shape;45;p5"/>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METHOD &amp; ROADMAP</a:t>
            </a:r>
            <a:endParaRPr sz="1300" b="0" i="0" u="none" strike="noStrike" cap="none">
              <a:solidFill>
                <a:schemeClr val="dk1"/>
              </a:solidFill>
              <a:latin typeface="Calibri"/>
              <a:ea typeface="Calibri"/>
              <a:cs typeface="Calibri"/>
              <a:sym typeface="Calibri"/>
            </a:endParaRPr>
          </a:p>
        </p:txBody>
      </p:sp>
      <p:sp>
        <p:nvSpPr>
          <p:cNvPr id="46" name="Google Shape;46;p5"/>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The LSSR pipeline, across three stages</a:t>
            </a:r>
            <a:endParaRPr sz="2900" b="0" i="0" u="none" strike="noStrike" cap="none">
              <a:solidFill>
                <a:schemeClr val="dk1"/>
              </a:solidFill>
              <a:latin typeface="Calibri"/>
              <a:ea typeface="Calibri"/>
              <a:cs typeface="Calibri"/>
              <a:sym typeface="Calibri"/>
            </a:endParaRPr>
          </a:p>
        </p:txBody>
      </p:sp>
      <p:sp>
        <p:nvSpPr>
          <p:cNvPr id="47" name="Google Shape;47;p5"/>
          <p:cNvSpPr/>
          <p:nvPr/>
        </p:nvSpPr>
        <p:spPr>
          <a:xfrm>
            <a:off x="548640" y="2103120"/>
            <a:ext cx="2697480" cy="2148840"/>
          </a:xfrm>
          <a:prstGeom prst="roundRect">
            <a:avLst>
              <a:gd name="adj" fmla="val 4255"/>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841248" y="2377440"/>
            <a:ext cx="658368" cy="658368"/>
          </a:xfrm>
          <a:prstGeom prst="ellipse">
            <a:avLst/>
          </a:prstGeom>
          <a:solidFill>
            <a:srgbClr val="5A64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841248" y="2377440"/>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1</a:t>
            </a:r>
            <a:endParaRPr sz="2400" b="0" i="0" u="none" strike="noStrike" cap="none">
              <a:solidFill>
                <a:schemeClr val="dk1"/>
              </a:solidFill>
              <a:latin typeface="Calibri"/>
              <a:ea typeface="Calibri"/>
              <a:cs typeface="Calibri"/>
              <a:sym typeface="Calibri"/>
            </a:endParaRPr>
          </a:p>
        </p:txBody>
      </p:sp>
      <p:sp>
        <p:nvSpPr>
          <p:cNvPr id="50" name="Google Shape;50;p5"/>
          <p:cNvSpPr/>
          <p:nvPr/>
        </p:nvSpPr>
        <p:spPr>
          <a:xfrm>
            <a:off x="822960" y="3200400"/>
            <a:ext cx="2148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700"/>
              <a:buFont typeface="Cambria"/>
              <a:buNone/>
            </a:pPr>
            <a:r>
              <a:rPr lang="en-US" sz="1700" b="1" i="0" u="none" strike="noStrike" cap="none">
                <a:solidFill>
                  <a:srgbClr val="1F2A44"/>
                </a:solidFill>
                <a:latin typeface="Cambria"/>
                <a:ea typeface="Cambria"/>
                <a:cs typeface="Cambria"/>
                <a:sym typeface="Cambria"/>
              </a:rPr>
              <a:t>Generate data</a:t>
            </a:r>
            <a:endParaRPr sz="1700" b="0" i="0" u="none" strike="noStrike" cap="none">
              <a:solidFill>
                <a:schemeClr val="dk1"/>
              </a:solidFill>
              <a:latin typeface="Calibri"/>
              <a:ea typeface="Calibri"/>
              <a:cs typeface="Calibri"/>
              <a:sym typeface="Calibri"/>
            </a:endParaRPr>
          </a:p>
        </p:txBody>
      </p:sp>
      <p:sp>
        <p:nvSpPr>
          <p:cNvPr id="51" name="Google Shape;51;p5"/>
          <p:cNvSpPr/>
          <p:nvPr/>
        </p:nvSpPr>
        <p:spPr>
          <a:xfrm>
            <a:off x="822960" y="3639312"/>
            <a:ext cx="2148840" cy="54864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2272E"/>
              </a:buClr>
              <a:buSzPts val="1300"/>
              <a:buFont typeface="Calibri"/>
              <a:buNone/>
            </a:pPr>
            <a:r>
              <a:rPr lang="en-US" sz="1300" b="0" i="0" u="none" strike="noStrike" cap="none">
                <a:solidFill>
                  <a:srgbClr val="22272E"/>
                </a:solidFill>
                <a:latin typeface="Calibri"/>
                <a:ea typeface="Calibri"/>
                <a:cs typeface="Calibri"/>
                <a:sym typeface="Calibri"/>
              </a:rPr>
              <a:t>ODE via Euler, or exact evaluation.</a:t>
            </a:r>
            <a:endParaRPr sz="1300" b="0" i="0" u="none" strike="noStrike" cap="none">
              <a:solidFill>
                <a:schemeClr val="dk1"/>
              </a:solidFill>
              <a:latin typeface="Calibri"/>
              <a:ea typeface="Calibri"/>
              <a:cs typeface="Calibri"/>
              <a:sym typeface="Calibri"/>
            </a:endParaRPr>
          </a:p>
        </p:txBody>
      </p:sp>
      <p:sp>
        <p:nvSpPr>
          <p:cNvPr id="52" name="Google Shape;52;p5"/>
          <p:cNvSpPr/>
          <p:nvPr/>
        </p:nvSpPr>
        <p:spPr>
          <a:xfrm>
            <a:off x="3227832" y="2971800"/>
            <a:ext cx="2286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A6478"/>
              </a:buClr>
              <a:buSzPts val="2200"/>
              <a:buFont typeface="Calibri"/>
              <a:buNone/>
            </a:pPr>
            <a:r>
              <a:rPr lang="en-US" sz="2200" b="1" i="0" u="none" strike="noStrike" cap="none">
                <a:solidFill>
                  <a:srgbClr val="5A6478"/>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53" name="Google Shape;53;p5"/>
          <p:cNvSpPr/>
          <p:nvPr/>
        </p:nvSpPr>
        <p:spPr>
          <a:xfrm>
            <a:off x="3410712" y="2103120"/>
            <a:ext cx="2697480" cy="2148840"/>
          </a:xfrm>
          <a:prstGeom prst="roundRect">
            <a:avLst>
              <a:gd name="adj" fmla="val 4255"/>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3703320" y="2377440"/>
            <a:ext cx="658368" cy="658368"/>
          </a:xfrm>
          <a:prstGeom prst="ellipse">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3703320" y="2377440"/>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2</a:t>
            </a:r>
            <a:endParaRPr sz="2400" b="0" i="0" u="none" strike="noStrike" cap="none">
              <a:solidFill>
                <a:schemeClr val="dk1"/>
              </a:solidFill>
              <a:latin typeface="Calibri"/>
              <a:ea typeface="Calibri"/>
              <a:cs typeface="Calibri"/>
              <a:sym typeface="Calibri"/>
            </a:endParaRPr>
          </a:p>
        </p:txBody>
      </p:sp>
      <p:sp>
        <p:nvSpPr>
          <p:cNvPr id="56" name="Google Shape;56;p5"/>
          <p:cNvSpPr/>
          <p:nvPr/>
        </p:nvSpPr>
        <p:spPr>
          <a:xfrm>
            <a:off x="3685032" y="3200400"/>
            <a:ext cx="2148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700"/>
              <a:buFont typeface="Cambria"/>
              <a:buNone/>
            </a:pPr>
            <a:r>
              <a:rPr lang="en-US" sz="1700" b="1" i="0" u="none" strike="noStrike" cap="none">
                <a:solidFill>
                  <a:srgbClr val="1F2A44"/>
                </a:solidFill>
                <a:latin typeface="Cambria"/>
                <a:ea typeface="Cambria"/>
                <a:cs typeface="Cambria"/>
                <a:sym typeface="Cambria"/>
              </a:rPr>
              <a:t>Least squares</a:t>
            </a:r>
            <a:endParaRPr sz="1700" b="0" i="0" u="none" strike="noStrike" cap="none">
              <a:solidFill>
                <a:schemeClr val="dk1"/>
              </a:solidFill>
              <a:latin typeface="Calibri"/>
              <a:ea typeface="Calibri"/>
              <a:cs typeface="Calibri"/>
              <a:sym typeface="Calibri"/>
            </a:endParaRPr>
          </a:p>
        </p:txBody>
      </p:sp>
      <p:sp>
        <p:nvSpPr>
          <p:cNvPr id="57" name="Google Shape;57;p5"/>
          <p:cNvSpPr/>
          <p:nvPr/>
        </p:nvSpPr>
        <p:spPr>
          <a:xfrm>
            <a:off x="3685032" y="3639312"/>
            <a:ext cx="2148840" cy="54864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2272E"/>
              </a:buClr>
              <a:buSzPts val="1300"/>
              <a:buFont typeface="Calibri"/>
              <a:buNone/>
            </a:pPr>
            <a:r>
              <a:rPr lang="en-US" sz="1300" b="0" i="0" u="none" strike="noStrike" cap="none">
                <a:solidFill>
                  <a:srgbClr val="22272E"/>
                </a:solidFill>
                <a:latin typeface="Calibri"/>
                <a:ea typeface="Calibri"/>
                <a:cs typeface="Calibri"/>
                <a:sym typeface="Calibri"/>
              </a:rPr>
              <a:t>Solve D c = b for all coefficients.</a:t>
            </a:r>
            <a:endParaRPr sz="1300" b="0" i="0" u="none" strike="noStrike" cap="none">
              <a:solidFill>
                <a:schemeClr val="dk1"/>
              </a:solidFill>
              <a:latin typeface="Calibri"/>
              <a:ea typeface="Calibri"/>
              <a:cs typeface="Calibri"/>
              <a:sym typeface="Calibri"/>
            </a:endParaRPr>
          </a:p>
        </p:txBody>
      </p:sp>
      <p:sp>
        <p:nvSpPr>
          <p:cNvPr id="58" name="Google Shape;58;p5"/>
          <p:cNvSpPr/>
          <p:nvPr/>
        </p:nvSpPr>
        <p:spPr>
          <a:xfrm>
            <a:off x="6089904" y="2971800"/>
            <a:ext cx="2286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A6478"/>
              </a:buClr>
              <a:buSzPts val="2200"/>
              <a:buFont typeface="Calibri"/>
              <a:buNone/>
            </a:pPr>
            <a:r>
              <a:rPr lang="en-US" sz="2200" b="1" i="0" u="none" strike="noStrike" cap="none">
                <a:solidFill>
                  <a:srgbClr val="5A6478"/>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59" name="Google Shape;59;p5"/>
          <p:cNvSpPr/>
          <p:nvPr/>
        </p:nvSpPr>
        <p:spPr>
          <a:xfrm>
            <a:off x="6272784" y="2103120"/>
            <a:ext cx="2697480" cy="2148840"/>
          </a:xfrm>
          <a:prstGeom prst="roundRect">
            <a:avLst>
              <a:gd name="adj" fmla="val 4255"/>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6565392" y="2377440"/>
            <a:ext cx="658368" cy="658368"/>
          </a:xfrm>
          <a:prstGeom prst="ellipse">
            <a:avLst/>
          </a:prstGeom>
          <a:solidFill>
            <a:srgbClr val="F4A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565392" y="2377440"/>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3</a:t>
            </a:r>
            <a:endParaRPr sz="2400" b="0" i="0" u="none" strike="noStrike" cap="none">
              <a:solidFill>
                <a:schemeClr val="dk1"/>
              </a:solidFill>
              <a:latin typeface="Calibri"/>
              <a:ea typeface="Calibri"/>
              <a:cs typeface="Calibri"/>
              <a:sym typeface="Calibri"/>
            </a:endParaRPr>
          </a:p>
        </p:txBody>
      </p:sp>
      <p:sp>
        <p:nvSpPr>
          <p:cNvPr id="62" name="Google Shape;62;p5"/>
          <p:cNvSpPr/>
          <p:nvPr/>
        </p:nvSpPr>
        <p:spPr>
          <a:xfrm>
            <a:off x="6547104" y="3200400"/>
            <a:ext cx="2148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700"/>
              <a:buFont typeface="Cambria"/>
              <a:buNone/>
            </a:pPr>
            <a:r>
              <a:rPr lang="en-US" sz="1700" b="1" i="0" u="none" strike="noStrike" cap="none">
                <a:solidFill>
                  <a:srgbClr val="1F2A44"/>
                </a:solidFill>
                <a:latin typeface="Cambria"/>
                <a:ea typeface="Cambria"/>
                <a:cs typeface="Cambria"/>
                <a:sym typeface="Cambria"/>
              </a:rPr>
              <a:t>Sparsify</a:t>
            </a:r>
            <a:endParaRPr sz="1700" b="0" i="0" u="none" strike="noStrike" cap="none">
              <a:solidFill>
                <a:schemeClr val="dk1"/>
              </a:solidFill>
              <a:latin typeface="Calibri"/>
              <a:ea typeface="Calibri"/>
              <a:cs typeface="Calibri"/>
              <a:sym typeface="Calibri"/>
            </a:endParaRPr>
          </a:p>
        </p:txBody>
      </p:sp>
      <p:sp>
        <p:nvSpPr>
          <p:cNvPr id="63" name="Google Shape;63;p5"/>
          <p:cNvSpPr/>
          <p:nvPr/>
        </p:nvSpPr>
        <p:spPr>
          <a:xfrm>
            <a:off x="6547104" y="3639312"/>
            <a:ext cx="2148840" cy="54864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2272E"/>
              </a:buClr>
              <a:buSzPts val="1300"/>
              <a:buFont typeface="Calibri"/>
              <a:buNone/>
            </a:pPr>
            <a:r>
              <a:rPr lang="en-US" sz="1300" b="0" i="0" u="none" strike="noStrike" cap="none">
                <a:solidFill>
                  <a:srgbClr val="22272E"/>
                </a:solidFill>
                <a:latin typeface="Calibri"/>
                <a:ea typeface="Calibri"/>
                <a:cs typeface="Calibri"/>
                <a:sym typeface="Calibri"/>
              </a:rPr>
              <a:t>Threshold: kill any |cⱼ| &lt; ε.</a:t>
            </a:r>
            <a:endParaRPr sz="1300" b="0" i="0" u="none" strike="noStrike" cap="none">
              <a:solidFill>
                <a:schemeClr val="dk1"/>
              </a:solidFill>
              <a:latin typeface="Calibri"/>
              <a:ea typeface="Calibri"/>
              <a:cs typeface="Calibri"/>
              <a:sym typeface="Calibri"/>
            </a:endParaRPr>
          </a:p>
        </p:txBody>
      </p:sp>
      <p:sp>
        <p:nvSpPr>
          <p:cNvPr id="64" name="Google Shape;64;p5"/>
          <p:cNvSpPr/>
          <p:nvPr/>
        </p:nvSpPr>
        <p:spPr>
          <a:xfrm>
            <a:off x="8951976" y="2971800"/>
            <a:ext cx="2286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A6478"/>
              </a:buClr>
              <a:buSzPts val="2200"/>
              <a:buFont typeface="Calibri"/>
              <a:buNone/>
            </a:pPr>
            <a:r>
              <a:rPr lang="en-US" sz="2200" b="1" i="0" u="none" strike="noStrike" cap="none">
                <a:solidFill>
                  <a:srgbClr val="5A6478"/>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65" name="Google Shape;65;p5"/>
          <p:cNvSpPr/>
          <p:nvPr/>
        </p:nvSpPr>
        <p:spPr>
          <a:xfrm>
            <a:off x="9134856" y="2103120"/>
            <a:ext cx="2697480" cy="2148840"/>
          </a:xfrm>
          <a:prstGeom prst="roundRect">
            <a:avLst>
              <a:gd name="adj" fmla="val 4255"/>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9427464" y="2377440"/>
            <a:ext cx="658368" cy="658368"/>
          </a:xfrm>
          <a:prstGeom prst="ellipse">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9427464" y="2377440"/>
            <a:ext cx="658368"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Cambria"/>
              <a:buNone/>
            </a:pPr>
            <a:r>
              <a:rPr lang="en-US" sz="2400" b="1" i="0" u="none" strike="noStrike" cap="none">
                <a:solidFill>
                  <a:srgbClr val="FFFFFF"/>
                </a:solidFill>
                <a:latin typeface="Cambria"/>
                <a:ea typeface="Cambria"/>
                <a:cs typeface="Cambria"/>
                <a:sym typeface="Cambria"/>
              </a:rPr>
              <a:t>4</a:t>
            </a:r>
            <a:endParaRPr sz="2400" b="0" i="0" u="none" strike="noStrike" cap="none">
              <a:solidFill>
                <a:schemeClr val="dk1"/>
              </a:solidFill>
              <a:latin typeface="Calibri"/>
              <a:ea typeface="Calibri"/>
              <a:cs typeface="Calibri"/>
              <a:sym typeface="Calibri"/>
            </a:endParaRPr>
          </a:p>
        </p:txBody>
      </p:sp>
      <p:sp>
        <p:nvSpPr>
          <p:cNvPr id="68" name="Google Shape;68;p5"/>
          <p:cNvSpPr/>
          <p:nvPr/>
        </p:nvSpPr>
        <p:spPr>
          <a:xfrm>
            <a:off x="9409176" y="3200400"/>
            <a:ext cx="2148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700"/>
              <a:buFont typeface="Cambria"/>
              <a:buNone/>
            </a:pPr>
            <a:r>
              <a:rPr lang="en-US" sz="1700" b="1" i="0" u="none" strike="noStrike" cap="none">
                <a:solidFill>
                  <a:srgbClr val="1F2A44"/>
                </a:solidFill>
                <a:latin typeface="Cambria"/>
                <a:ea typeface="Cambria"/>
                <a:cs typeface="Cambria"/>
                <a:sym typeface="Cambria"/>
              </a:rPr>
              <a:t>Refine</a:t>
            </a:r>
            <a:endParaRPr sz="1700" b="0" i="0" u="none" strike="noStrike" cap="none">
              <a:solidFill>
                <a:schemeClr val="dk1"/>
              </a:solidFill>
              <a:latin typeface="Calibri"/>
              <a:ea typeface="Calibri"/>
              <a:cs typeface="Calibri"/>
              <a:sym typeface="Calibri"/>
            </a:endParaRPr>
          </a:p>
        </p:txBody>
      </p:sp>
      <p:sp>
        <p:nvSpPr>
          <p:cNvPr id="69" name="Google Shape;69;p5"/>
          <p:cNvSpPr/>
          <p:nvPr/>
        </p:nvSpPr>
        <p:spPr>
          <a:xfrm>
            <a:off x="9409176" y="3639312"/>
            <a:ext cx="2148840" cy="54864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2272E"/>
              </a:buClr>
              <a:buSzPts val="1300"/>
              <a:buFont typeface="Calibri"/>
              <a:buNone/>
            </a:pPr>
            <a:r>
              <a:rPr lang="en-US" sz="1300" b="0" i="0" u="none" strike="noStrike" cap="none">
                <a:solidFill>
                  <a:srgbClr val="22272E"/>
                </a:solidFill>
                <a:latin typeface="Calibri"/>
                <a:ea typeface="Calibri"/>
                <a:cs typeface="Calibri"/>
                <a:sym typeface="Calibri"/>
              </a:rPr>
              <a:t>Re-solve on survivors only.</a:t>
            </a:r>
            <a:endParaRPr sz="1300" b="0" i="0" u="none" strike="noStrike" cap="none">
              <a:solidFill>
                <a:schemeClr val="dk1"/>
              </a:solidFill>
              <a:latin typeface="Calibri"/>
              <a:ea typeface="Calibri"/>
              <a:cs typeface="Calibri"/>
              <a:sym typeface="Calibri"/>
            </a:endParaRPr>
          </a:p>
        </p:txBody>
      </p:sp>
      <p:sp>
        <p:nvSpPr>
          <p:cNvPr id="70" name="Google Shape;70;p5"/>
          <p:cNvSpPr/>
          <p:nvPr/>
        </p:nvSpPr>
        <p:spPr>
          <a:xfrm>
            <a:off x="548640" y="434340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1350"/>
              <a:buFont typeface="Calibri"/>
              <a:buNone/>
            </a:pPr>
            <a:r>
              <a:rPr lang="en-US" sz="1350" b="0" i="1" u="none" strike="noStrike" cap="none">
                <a:solidFill>
                  <a:srgbClr val="5A6478"/>
                </a:solidFill>
                <a:latin typeface="Calibri"/>
                <a:ea typeface="Calibri"/>
                <a:cs typeface="Calibri"/>
                <a:sym typeface="Calibri"/>
              </a:rPr>
              <a:t>We deliberately use naive thresholding — not LASSO or ISTA — as the proposal prescribes.</a:t>
            </a:r>
            <a:endParaRPr sz="1350" b="0" i="0" u="none" strike="noStrike" cap="none">
              <a:solidFill>
                <a:schemeClr val="dk1"/>
              </a:solidFill>
              <a:latin typeface="Calibri"/>
              <a:ea typeface="Calibri"/>
              <a:cs typeface="Calibri"/>
              <a:sym typeface="Calibri"/>
            </a:endParaRPr>
          </a:p>
        </p:txBody>
      </p:sp>
      <p:sp>
        <p:nvSpPr>
          <p:cNvPr id="71" name="Google Shape;71;p5"/>
          <p:cNvSpPr/>
          <p:nvPr/>
        </p:nvSpPr>
        <p:spPr>
          <a:xfrm>
            <a:off x="548640" y="4892040"/>
            <a:ext cx="3520440" cy="1051560"/>
          </a:xfrm>
          <a:prstGeom prst="roundRect">
            <a:avLst>
              <a:gd name="adj" fmla="val 8696"/>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804672" y="5138928"/>
            <a:ext cx="548640" cy="548640"/>
          </a:xfrm>
          <a:prstGeom prst="ellipse">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804672" y="5138928"/>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100"/>
              <a:buFont typeface="Cambria"/>
              <a:buNone/>
            </a:pPr>
            <a:r>
              <a:rPr lang="en-US" sz="2100" b="1" i="0" u="none" strike="noStrike" cap="none">
                <a:solidFill>
                  <a:srgbClr val="FFFFFF"/>
                </a:solidFill>
                <a:latin typeface="Cambria"/>
                <a:ea typeface="Cambria"/>
                <a:cs typeface="Cambria"/>
                <a:sym typeface="Cambria"/>
              </a:rPr>
              <a:t>1</a:t>
            </a:r>
            <a:endParaRPr sz="2100" b="0" i="0" u="none" strike="noStrike" cap="none">
              <a:solidFill>
                <a:schemeClr val="dk1"/>
              </a:solidFill>
              <a:latin typeface="Calibri"/>
              <a:ea typeface="Calibri"/>
              <a:cs typeface="Calibri"/>
              <a:sym typeface="Calibri"/>
            </a:endParaRPr>
          </a:p>
        </p:txBody>
      </p:sp>
      <p:sp>
        <p:nvSpPr>
          <p:cNvPr id="74" name="Google Shape;74;p5"/>
          <p:cNvSpPr/>
          <p:nvPr/>
        </p:nvSpPr>
        <p:spPr>
          <a:xfrm>
            <a:off x="1463040" y="502920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600"/>
              <a:buFont typeface="Cambria"/>
              <a:buNone/>
            </a:pPr>
            <a:r>
              <a:rPr lang="en-US" sz="1600" b="1" i="0" u="none" strike="noStrike" cap="none">
                <a:solidFill>
                  <a:srgbClr val="1F2A44"/>
                </a:solidFill>
                <a:latin typeface="Cambria"/>
                <a:ea typeface="Cambria"/>
                <a:cs typeface="Cambria"/>
                <a:sym typeface="Cambria"/>
              </a:rPr>
              <a:t>Stage 1  </a:t>
            </a:r>
            <a:r>
              <a:rPr lang="en-US" sz="1600" b="1" i="0" u="none" strike="noStrike" cap="none">
                <a:solidFill>
                  <a:srgbClr val="2A9D8F"/>
                </a:solidFill>
                <a:latin typeface="Cambria"/>
                <a:ea typeface="Cambria"/>
                <a:cs typeface="Cambria"/>
                <a:sym typeface="Cambria"/>
              </a:rPr>
              <a:t>Polynomial</a:t>
            </a:r>
            <a:endParaRPr sz="1600" b="0" i="0" u="none" strike="noStrike" cap="none">
              <a:solidFill>
                <a:schemeClr val="dk1"/>
              </a:solidFill>
              <a:latin typeface="Calibri"/>
              <a:ea typeface="Calibri"/>
              <a:cs typeface="Calibri"/>
              <a:sym typeface="Calibri"/>
            </a:endParaRPr>
          </a:p>
        </p:txBody>
      </p:sp>
      <p:sp>
        <p:nvSpPr>
          <p:cNvPr id="75" name="Google Shape;75;p5"/>
          <p:cNvSpPr/>
          <p:nvPr/>
        </p:nvSpPr>
        <p:spPr>
          <a:xfrm>
            <a:off x="1463040" y="5413248"/>
            <a:ext cx="2514600" cy="4572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22272E"/>
              </a:buClr>
              <a:buSzPts val="1100"/>
              <a:buFont typeface="Calibri"/>
              <a:buNone/>
            </a:pPr>
            <a:r>
              <a:rPr lang="en-US" sz="1100" b="0" i="0" u="none" strike="noStrike" cap="none">
                <a:solidFill>
                  <a:srgbClr val="22272E"/>
                </a:solidFill>
                <a:latin typeface="Calibri"/>
                <a:ea typeface="Calibri"/>
                <a:cs typeface="Calibri"/>
                <a:sym typeface="Calibri"/>
              </a:rPr>
              <a:t>t + t²  — finite, sanity-checks the pipeline</a:t>
            </a:r>
            <a:endParaRPr sz="1100" b="0" i="0" u="none" strike="noStrike" cap="none">
              <a:solidFill>
                <a:schemeClr val="dk1"/>
              </a:solidFill>
              <a:latin typeface="Calibri"/>
              <a:ea typeface="Calibri"/>
              <a:cs typeface="Calibri"/>
              <a:sym typeface="Calibri"/>
            </a:endParaRPr>
          </a:p>
        </p:txBody>
      </p:sp>
      <p:sp>
        <p:nvSpPr>
          <p:cNvPr id="76" name="Google Shape;76;p5"/>
          <p:cNvSpPr/>
          <p:nvPr/>
        </p:nvSpPr>
        <p:spPr>
          <a:xfrm>
            <a:off x="4251960" y="4892040"/>
            <a:ext cx="3520440" cy="1051560"/>
          </a:xfrm>
          <a:prstGeom prst="roundRect">
            <a:avLst>
              <a:gd name="adj" fmla="val 8696"/>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507992" y="5138928"/>
            <a:ext cx="548640" cy="548640"/>
          </a:xfrm>
          <a:prstGeom prst="ellipse">
            <a:avLst/>
          </a:prstGeom>
          <a:solidFill>
            <a:srgbClr val="F4A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4507992" y="5138928"/>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100"/>
              <a:buFont typeface="Cambria"/>
              <a:buNone/>
            </a:pPr>
            <a:r>
              <a:rPr lang="en-US" sz="2100" b="1" i="0" u="none" strike="noStrike" cap="none">
                <a:solidFill>
                  <a:srgbClr val="FFFFFF"/>
                </a:solidFill>
                <a:latin typeface="Cambria"/>
                <a:ea typeface="Cambria"/>
                <a:cs typeface="Cambria"/>
                <a:sym typeface="Cambria"/>
              </a:rPr>
              <a:t>2</a:t>
            </a:r>
            <a:endParaRPr sz="2100" b="0" i="0" u="none" strike="noStrike" cap="none">
              <a:solidFill>
                <a:schemeClr val="dk1"/>
              </a:solidFill>
              <a:latin typeface="Calibri"/>
              <a:ea typeface="Calibri"/>
              <a:cs typeface="Calibri"/>
              <a:sym typeface="Calibri"/>
            </a:endParaRPr>
          </a:p>
        </p:txBody>
      </p:sp>
      <p:sp>
        <p:nvSpPr>
          <p:cNvPr id="79" name="Google Shape;79;p5"/>
          <p:cNvSpPr/>
          <p:nvPr/>
        </p:nvSpPr>
        <p:spPr>
          <a:xfrm>
            <a:off x="5166360" y="502920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600"/>
              <a:buFont typeface="Cambria"/>
              <a:buNone/>
            </a:pPr>
            <a:r>
              <a:rPr lang="en-US" sz="1600" b="1" i="0" u="none" strike="noStrike" cap="none">
                <a:solidFill>
                  <a:srgbClr val="1F2A44"/>
                </a:solidFill>
                <a:latin typeface="Cambria"/>
                <a:ea typeface="Cambria"/>
                <a:cs typeface="Cambria"/>
                <a:sym typeface="Cambria"/>
              </a:rPr>
              <a:t>Stage 2  </a:t>
            </a:r>
            <a:r>
              <a:rPr lang="en-US" sz="1600" b="1" i="0" u="none" strike="noStrike" cap="none">
                <a:solidFill>
                  <a:srgbClr val="F4A300"/>
                </a:solidFill>
                <a:latin typeface="Cambria"/>
                <a:ea typeface="Cambria"/>
                <a:cs typeface="Cambria"/>
                <a:sym typeface="Cambria"/>
              </a:rPr>
              <a:t>eᵗ</a:t>
            </a:r>
            <a:endParaRPr sz="1600" b="0" i="0" u="none" strike="noStrike" cap="none">
              <a:solidFill>
                <a:schemeClr val="dk1"/>
              </a:solidFill>
              <a:latin typeface="Calibri"/>
              <a:ea typeface="Calibri"/>
              <a:cs typeface="Calibri"/>
              <a:sym typeface="Calibri"/>
            </a:endParaRPr>
          </a:p>
        </p:txBody>
      </p:sp>
      <p:sp>
        <p:nvSpPr>
          <p:cNvPr id="80" name="Google Shape;80;p5"/>
          <p:cNvSpPr/>
          <p:nvPr/>
        </p:nvSpPr>
        <p:spPr>
          <a:xfrm>
            <a:off x="5166360" y="5413248"/>
            <a:ext cx="2514600" cy="4572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22272E"/>
              </a:buClr>
              <a:buSzPts val="1100"/>
              <a:buFont typeface="Calibri"/>
              <a:buNone/>
            </a:pPr>
            <a:r>
              <a:rPr lang="en-US" sz="1100" b="0" i="0" u="none" strike="noStrike" cap="none">
                <a:solidFill>
                  <a:srgbClr val="22272E"/>
                </a:solidFill>
                <a:latin typeface="Calibri"/>
                <a:ea typeface="Calibri"/>
                <a:cs typeface="Calibri"/>
                <a:sym typeface="Calibri"/>
              </a:rPr>
              <a:t>Taylor series 1/n!  — introduces truncation</a:t>
            </a:r>
            <a:endParaRPr sz="1100" b="0" i="0" u="none" strike="noStrike" cap="none">
              <a:solidFill>
                <a:schemeClr val="dk1"/>
              </a:solidFill>
              <a:latin typeface="Calibri"/>
              <a:ea typeface="Calibri"/>
              <a:cs typeface="Calibri"/>
              <a:sym typeface="Calibri"/>
            </a:endParaRPr>
          </a:p>
        </p:txBody>
      </p:sp>
      <p:sp>
        <p:nvSpPr>
          <p:cNvPr id="81" name="Google Shape;81;p5"/>
          <p:cNvSpPr/>
          <p:nvPr/>
        </p:nvSpPr>
        <p:spPr>
          <a:xfrm>
            <a:off x="7955280" y="4892040"/>
            <a:ext cx="3520440" cy="1051560"/>
          </a:xfrm>
          <a:prstGeom prst="roundRect">
            <a:avLst>
              <a:gd name="adj" fmla="val 8696"/>
            </a:avLst>
          </a:prstGeom>
          <a:solidFill>
            <a:srgbClr val="FDF3EE"/>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8211312" y="5138928"/>
            <a:ext cx="548640" cy="54864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8211312" y="5138928"/>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100"/>
              <a:buFont typeface="Cambria"/>
              <a:buNone/>
            </a:pPr>
            <a:r>
              <a:rPr lang="en-US" sz="2100" b="1" i="0" u="none" strike="noStrike" cap="none">
                <a:solidFill>
                  <a:srgbClr val="FFFFFF"/>
                </a:solidFill>
                <a:latin typeface="Cambria"/>
                <a:ea typeface="Cambria"/>
                <a:cs typeface="Cambria"/>
                <a:sym typeface="Cambria"/>
              </a:rPr>
              <a:t>3</a:t>
            </a:r>
            <a:endParaRPr sz="2100" b="0" i="0" u="none" strike="noStrike" cap="none">
              <a:solidFill>
                <a:schemeClr val="dk1"/>
              </a:solidFill>
              <a:latin typeface="Calibri"/>
              <a:ea typeface="Calibri"/>
              <a:cs typeface="Calibri"/>
              <a:sym typeface="Calibri"/>
            </a:endParaRPr>
          </a:p>
        </p:txBody>
      </p:sp>
      <p:sp>
        <p:nvSpPr>
          <p:cNvPr id="84" name="Google Shape;84;p5"/>
          <p:cNvSpPr/>
          <p:nvPr/>
        </p:nvSpPr>
        <p:spPr>
          <a:xfrm>
            <a:off x="8869680" y="502920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600"/>
              <a:buFont typeface="Cambria"/>
              <a:buNone/>
            </a:pPr>
            <a:r>
              <a:rPr lang="en-US" sz="1600" b="1" i="0" u="none" strike="noStrike" cap="none">
                <a:solidFill>
                  <a:srgbClr val="1F2A44"/>
                </a:solidFill>
                <a:latin typeface="Cambria"/>
                <a:ea typeface="Cambria"/>
                <a:cs typeface="Cambria"/>
                <a:sym typeface="Cambria"/>
              </a:rPr>
              <a:t>Stage 3  </a:t>
            </a:r>
            <a:r>
              <a:rPr lang="en-US" sz="1600" b="1" i="0" u="none" strike="noStrike" cap="none">
                <a:solidFill>
                  <a:srgbClr val="E76F51"/>
                </a:solidFill>
                <a:latin typeface="Cambria"/>
                <a:ea typeface="Cambria"/>
                <a:cs typeface="Cambria"/>
                <a:sym typeface="Cambria"/>
              </a:rPr>
              <a:t>eᵃᵗ</a:t>
            </a:r>
            <a:endParaRPr sz="1600" b="0" i="0" u="none" strike="noStrike" cap="none">
              <a:solidFill>
                <a:schemeClr val="dk1"/>
              </a:solidFill>
              <a:latin typeface="Calibri"/>
              <a:ea typeface="Calibri"/>
              <a:cs typeface="Calibri"/>
              <a:sym typeface="Calibri"/>
            </a:endParaRPr>
          </a:p>
        </p:txBody>
      </p:sp>
      <p:sp>
        <p:nvSpPr>
          <p:cNvPr id="85" name="Google Shape;85;p5"/>
          <p:cNvSpPr/>
          <p:nvPr/>
        </p:nvSpPr>
        <p:spPr>
          <a:xfrm>
            <a:off x="8869680" y="5413248"/>
            <a:ext cx="2514600" cy="4572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22272E"/>
              </a:buClr>
              <a:buSzPts val="1100"/>
              <a:buFont typeface="Calibri"/>
              <a:buNone/>
            </a:pPr>
            <a:r>
              <a:rPr lang="en-US" sz="1100" b="0" i="0" u="none" strike="noStrike" cap="none">
                <a:solidFill>
                  <a:srgbClr val="22272E"/>
                </a:solidFill>
                <a:latin typeface="Calibri"/>
                <a:ea typeface="Calibri"/>
                <a:cs typeface="Calibri"/>
                <a:sym typeface="Calibri"/>
              </a:rPr>
              <a:t>diagonal grid  — sparsity + collinearity</a:t>
            </a:r>
            <a:endParaRPr sz="1100" b="0" i="0" u="none" strike="noStrike" cap="none">
              <a:solidFill>
                <a:schemeClr val="dk1"/>
              </a:solidFill>
              <a:latin typeface="Calibri"/>
              <a:ea typeface="Calibri"/>
              <a:cs typeface="Calibri"/>
              <a:sym typeface="Calibri"/>
            </a:endParaRPr>
          </a:p>
        </p:txBody>
      </p:sp>
      <p:sp>
        <p:nvSpPr>
          <p:cNvPr id="86" name="Google Shape;86;p5"/>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87" name="Google Shape;87;p5"/>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3</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sp>
        <p:nvSpPr>
          <p:cNvPr id="93" name="Google Shape;93;p6"/>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STAGE 1 — POLYNOMIAL</a:t>
            </a:r>
            <a:endParaRPr sz="1300" b="0" i="0" u="none" strike="noStrike" cap="none">
              <a:solidFill>
                <a:schemeClr val="dk1"/>
              </a:solidFill>
              <a:latin typeface="Calibri"/>
              <a:ea typeface="Calibri"/>
              <a:cs typeface="Calibri"/>
              <a:sym typeface="Calibri"/>
            </a:endParaRPr>
          </a:p>
        </p:txBody>
      </p:sp>
      <p:sp>
        <p:nvSpPr>
          <p:cNvPr id="94" name="Google Shape;94;p6"/>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a:solidFill>
                  <a:srgbClr val="1F2A44"/>
                </a:solidFill>
                <a:latin typeface="Cambria"/>
                <a:ea typeface="Cambria"/>
                <a:cs typeface="Cambria"/>
                <a:sym typeface="Cambria"/>
              </a:rPr>
              <a:t>For testing purposes</a:t>
            </a:r>
            <a:r>
              <a:rPr lang="en-US" sz="2900" b="1" i="0" u="none" strike="noStrike" cap="none">
                <a:solidFill>
                  <a:srgbClr val="1F2A44"/>
                </a:solidFill>
                <a:latin typeface="Cambria"/>
                <a:ea typeface="Cambria"/>
                <a:cs typeface="Cambria"/>
                <a:sym typeface="Cambria"/>
              </a:rPr>
              <a:t>:  rediscovering  x(t) = t + t²</a:t>
            </a:r>
            <a:endParaRPr sz="2900" b="0" i="0" u="none" strike="noStrike" cap="none">
              <a:solidFill>
                <a:schemeClr val="dk1"/>
              </a:solidFill>
              <a:latin typeface="Calibri"/>
              <a:ea typeface="Calibri"/>
              <a:cs typeface="Calibri"/>
              <a:sym typeface="Calibri"/>
            </a:endParaRPr>
          </a:p>
        </p:txBody>
      </p:sp>
      <p:pic>
        <p:nvPicPr>
          <p:cNvPr id="95" name="Google Shape;95;p6" descr="/home/claude/figs/stage1_fit.png"/>
          <p:cNvPicPr preferRelativeResize="0"/>
          <p:nvPr/>
        </p:nvPicPr>
        <p:blipFill rotWithShape="1">
          <a:blip r:embed="rId3">
            <a:alphaModFix/>
          </a:blip>
          <a:srcRect/>
          <a:stretch/>
        </p:blipFill>
        <p:spPr>
          <a:xfrm>
            <a:off x="548640" y="2103120"/>
            <a:ext cx="5760720" cy="3904488"/>
          </a:xfrm>
          <a:prstGeom prst="rect">
            <a:avLst/>
          </a:prstGeom>
          <a:noFill/>
          <a:ln>
            <a:noFill/>
          </a:ln>
        </p:spPr>
      </p:pic>
      <p:sp>
        <p:nvSpPr>
          <p:cNvPr id="96" name="Google Shape;96;p6"/>
          <p:cNvSpPr/>
          <p:nvPr/>
        </p:nvSpPr>
        <p:spPr>
          <a:xfrm>
            <a:off x="6583680" y="2286000"/>
            <a:ext cx="4846320" cy="8229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2272E"/>
              </a:buClr>
              <a:buSzPts val="1550"/>
              <a:buFont typeface="Calibri"/>
              <a:buNone/>
            </a:pPr>
            <a:r>
              <a:rPr lang="en-US" sz="1550" b="1" i="0" u="none" strike="noStrike" cap="none">
                <a:solidFill>
                  <a:srgbClr val="22272E"/>
                </a:solidFill>
                <a:latin typeface="Calibri"/>
                <a:ea typeface="Calibri"/>
                <a:cs typeface="Calibri"/>
                <a:sym typeface="Calibri"/>
              </a:rPr>
              <a:t>Euler's method </a:t>
            </a:r>
            <a:r>
              <a:rPr lang="en-US" sz="1550" b="0" i="0" u="none" strike="noStrike" cap="none">
                <a:solidFill>
                  <a:srgbClr val="22272E"/>
                </a:solidFill>
                <a:latin typeface="Calibri"/>
                <a:ea typeface="Calibri"/>
                <a:cs typeface="Calibri"/>
                <a:sym typeface="Calibri"/>
              </a:rPr>
              <a:t>steps along the ODE dx/dt = 1 + 2t to build trustworthy data.</a:t>
            </a:r>
            <a:endParaRPr sz="1550" b="0" i="0" u="none" strike="noStrike" cap="none">
              <a:solidFill>
                <a:schemeClr val="dk1"/>
              </a:solidFill>
              <a:latin typeface="Calibri"/>
              <a:ea typeface="Calibri"/>
              <a:cs typeface="Calibri"/>
              <a:sym typeface="Calibri"/>
            </a:endParaRPr>
          </a:p>
        </p:txBody>
      </p:sp>
      <p:sp>
        <p:nvSpPr>
          <p:cNvPr id="97" name="Google Shape;97;p6"/>
          <p:cNvSpPr/>
          <p:nvPr/>
        </p:nvSpPr>
        <p:spPr>
          <a:xfrm>
            <a:off x="6583680" y="3291840"/>
            <a:ext cx="4937760" cy="1828800"/>
          </a:xfrm>
          <a:prstGeom prst="roundRect">
            <a:avLst>
              <a:gd name="adj" fmla="val 5000"/>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6812280" y="3456432"/>
            <a:ext cx="4572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1300"/>
              <a:buFont typeface="Calibri"/>
              <a:buNone/>
            </a:pPr>
            <a:r>
              <a:rPr lang="en-US" sz="1300" b="1" i="0" u="none" strike="noStrike" cap="none">
                <a:solidFill>
                  <a:srgbClr val="5A6478"/>
                </a:solidFill>
                <a:latin typeface="Calibri"/>
                <a:ea typeface="Calibri"/>
                <a:cs typeface="Calibri"/>
                <a:sym typeface="Calibri"/>
              </a:rPr>
              <a:t>Recovered coefficients</a:t>
            </a:r>
            <a:endParaRPr sz="1300" b="0" i="0" u="none" strike="noStrike" cap="none">
              <a:solidFill>
                <a:schemeClr val="dk1"/>
              </a:solidFill>
              <a:latin typeface="Calibri"/>
              <a:ea typeface="Calibri"/>
              <a:cs typeface="Calibri"/>
              <a:sym typeface="Calibri"/>
            </a:endParaRPr>
          </a:p>
        </p:txBody>
      </p:sp>
      <p:sp>
        <p:nvSpPr>
          <p:cNvPr id="99" name="Google Shape;99;p6"/>
          <p:cNvSpPr/>
          <p:nvPr/>
        </p:nvSpPr>
        <p:spPr>
          <a:xfrm>
            <a:off x="6812280" y="3886200"/>
            <a:ext cx="4572000" cy="109728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2A9D8F"/>
              </a:buClr>
              <a:buSzPts val="1700"/>
              <a:buFont typeface="Cambria"/>
              <a:buNone/>
            </a:pPr>
            <a:r>
              <a:rPr lang="en-US" sz="1700" b="1" i="0" u="none" strike="noStrike" cap="none">
                <a:solidFill>
                  <a:srgbClr val="2A9D8F"/>
                </a:solidFill>
                <a:latin typeface="Cambria"/>
                <a:ea typeface="Cambria"/>
                <a:cs typeface="Cambria"/>
                <a:sym typeface="Cambria"/>
              </a:rPr>
              <a:t>c₁ = 0.99      c₂ = 1.00</a:t>
            </a:r>
            <a:endParaRPr sz="17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22272E"/>
              </a:buClr>
              <a:buSzPts val="1700"/>
              <a:buFont typeface="Cambria"/>
              <a:buNone/>
            </a:pPr>
            <a:r>
              <a:rPr lang="en-US" sz="1700" b="0" i="0" u="none" strike="noStrike" cap="none">
                <a:solidFill>
                  <a:srgbClr val="22272E"/>
                </a:solidFill>
                <a:latin typeface="Cambria"/>
                <a:ea typeface="Cambria"/>
                <a:cs typeface="Cambria"/>
                <a:sym typeface="Cambria"/>
              </a:rPr>
              <a:t>all others ≈ 10⁻¹⁵  (machine zero)</a:t>
            </a:r>
            <a:endParaRPr sz="1700" b="0" i="0" u="none" strike="noStrike" cap="none">
              <a:solidFill>
                <a:schemeClr val="dk1"/>
              </a:solidFill>
              <a:latin typeface="Calibri"/>
              <a:ea typeface="Calibri"/>
              <a:cs typeface="Calibri"/>
              <a:sym typeface="Calibri"/>
            </a:endParaRPr>
          </a:p>
        </p:txBody>
      </p:sp>
      <p:sp>
        <p:nvSpPr>
          <p:cNvPr id="100" name="Google Shape;100;p6"/>
          <p:cNvSpPr/>
          <p:nvPr/>
        </p:nvSpPr>
        <p:spPr>
          <a:xfrm>
            <a:off x="6583680" y="5303520"/>
            <a:ext cx="48463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1400"/>
              <a:buFont typeface="Calibri"/>
              <a:buNone/>
            </a:pPr>
            <a:r>
              <a:rPr lang="en-US" sz="1400" b="0" i="1" u="none" strike="noStrike" cap="none">
                <a:solidFill>
                  <a:srgbClr val="5A6478"/>
                </a:solidFill>
                <a:latin typeface="Calibri"/>
                <a:ea typeface="Calibri"/>
                <a:cs typeface="Calibri"/>
                <a:sym typeface="Calibri"/>
              </a:rPr>
              <a:t>Plain least squares nails it — no sparsify needed yet.</a:t>
            </a:r>
            <a:endParaRPr sz="1400" b="0" i="0" u="none" strike="noStrike" cap="none">
              <a:solidFill>
                <a:schemeClr val="dk1"/>
              </a:solidFill>
              <a:latin typeface="Calibri"/>
              <a:ea typeface="Calibri"/>
              <a:cs typeface="Calibri"/>
              <a:sym typeface="Calibri"/>
            </a:endParaRPr>
          </a:p>
        </p:txBody>
      </p:sp>
      <p:sp>
        <p:nvSpPr>
          <p:cNvPr id="101" name="Google Shape;101;p6"/>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02" name="Google Shape;102;p6"/>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4</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p7"/>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STAGE 2 — Eᵗ</a:t>
            </a:r>
            <a:endParaRPr sz="1300" b="0" i="0" u="none" strike="noStrike" cap="none">
              <a:solidFill>
                <a:schemeClr val="dk1"/>
              </a:solidFill>
              <a:latin typeface="Calibri"/>
              <a:ea typeface="Calibri"/>
              <a:cs typeface="Calibri"/>
              <a:sym typeface="Calibri"/>
            </a:endParaRPr>
          </a:p>
        </p:txBody>
      </p:sp>
      <p:sp>
        <p:nvSpPr>
          <p:cNvPr id="109" name="Google Shape;109;p7"/>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Three knobs tame truncation — Taylor series recovered</a:t>
            </a:r>
            <a:endParaRPr sz="2900" b="0" i="0" u="none" strike="noStrike" cap="none">
              <a:solidFill>
                <a:schemeClr val="dk1"/>
              </a:solidFill>
              <a:latin typeface="Calibri"/>
              <a:ea typeface="Calibri"/>
              <a:cs typeface="Calibri"/>
              <a:sym typeface="Calibri"/>
            </a:endParaRPr>
          </a:p>
        </p:txBody>
      </p:sp>
      <p:pic>
        <p:nvPicPr>
          <p:cNvPr id="110" name="Google Shape;110;p7" descr="/home/claude/figs/stage2_knobs.png"/>
          <p:cNvPicPr preferRelativeResize="0"/>
          <p:nvPr/>
        </p:nvPicPr>
        <p:blipFill rotWithShape="1">
          <a:blip r:embed="rId3">
            <a:alphaModFix/>
          </a:blip>
          <a:srcRect/>
          <a:stretch/>
        </p:blipFill>
        <p:spPr>
          <a:xfrm>
            <a:off x="548640" y="2148840"/>
            <a:ext cx="6766560" cy="3803904"/>
          </a:xfrm>
          <a:prstGeom prst="rect">
            <a:avLst/>
          </a:prstGeom>
          <a:noFill/>
          <a:ln>
            <a:noFill/>
          </a:ln>
        </p:spPr>
      </p:pic>
      <p:sp>
        <p:nvSpPr>
          <p:cNvPr id="111" name="Google Shape;111;p7"/>
          <p:cNvSpPr/>
          <p:nvPr/>
        </p:nvSpPr>
        <p:spPr>
          <a:xfrm>
            <a:off x="7543800" y="2286000"/>
            <a:ext cx="4114800" cy="1371600"/>
          </a:xfrm>
          <a:prstGeom prst="roundRect">
            <a:avLst>
              <a:gd name="adj" fmla="val 8000"/>
            </a:avLst>
          </a:prstGeom>
          <a:solidFill>
            <a:srgbClr val="EDF6F4"/>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p:nvPr/>
        </p:nvSpPr>
        <p:spPr>
          <a:xfrm>
            <a:off x="7772400" y="2450592"/>
            <a:ext cx="3657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9D8F"/>
              </a:buClr>
              <a:buSzPts val="2300"/>
              <a:buFont typeface="Cambria"/>
              <a:buNone/>
            </a:pPr>
            <a:r>
              <a:rPr lang="en-US" sz="2300" b="1" i="0" u="none" strike="noStrike" cap="none">
                <a:solidFill>
                  <a:srgbClr val="2A9D8F"/>
                </a:solidFill>
                <a:latin typeface="Cambria"/>
                <a:ea typeface="Cambria"/>
                <a:cs typeface="Cambria"/>
                <a:sym typeface="Cambria"/>
              </a:rPr>
              <a:t>11 coefficients, ~7 digits</a:t>
            </a:r>
            <a:endParaRPr sz="2300" b="0" i="0" u="none" strike="noStrike" cap="none">
              <a:solidFill>
                <a:schemeClr val="dk1"/>
              </a:solidFill>
              <a:latin typeface="Calibri"/>
              <a:ea typeface="Calibri"/>
              <a:cs typeface="Calibri"/>
              <a:sym typeface="Calibri"/>
            </a:endParaRPr>
          </a:p>
        </p:txBody>
      </p:sp>
      <p:sp>
        <p:nvSpPr>
          <p:cNvPr id="113" name="Google Shape;113;p7"/>
          <p:cNvSpPr/>
          <p:nvPr/>
        </p:nvSpPr>
        <p:spPr>
          <a:xfrm>
            <a:off x="7772400" y="2971800"/>
            <a:ext cx="365760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2272E"/>
              </a:buClr>
              <a:buSzPts val="1400"/>
              <a:buFont typeface="Calibri"/>
              <a:buNone/>
            </a:pPr>
            <a:r>
              <a:rPr lang="en-US" sz="1400" b="0" i="0" u="none" strike="noStrike" cap="none">
                <a:solidFill>
                  <a:srgbClr val="22272E"/>
                </a:solidFill>
                <a:latin typeface="Calibri"/>
                <a:ea typeface="Calibri"/>
                <a:cs typeface="Calibri"/>
                <a:sym typeface="Calibri"/>
              </a:rPr>
              <a:t>The machine output 1, 1, ½, 1⁄6 … = 1/n!, the Taylor series of eᵗ.</a:t>
            </a:r>
            <a:endParaRPr sz="1400" b="0" i="0" u="none" strike="noStrike" cap="none">
              <a:solidFill>
                <a:schemeClr val="dk1"/>
              </a:solidFill>
              <a:latin typeface="Calibri"/>
              <a:ea typeface="Calibri"/>
              <a:cs typeface="Calibri"/>
              <a:sym typeface="Calibri"/>
            </a:endParaRPr>
          </a:p>
        </p:txBody>
      </p:sp>
      <p:sp>
        <p:nvSpPr>
          <p:cNvPr id="114" name="Google Shape;114;p7"/>
          <p:cNvSpPr/>
          <p:nvPr/>
        </p:nvSpPr>
        <p:spPr>
          <a:xfrm>
            <a:off x="7589520" y="3959352"/>
            <a:ext cx="310896" cy="310896"/>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7589520" y="3959352"/>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i="0" u="none" strike="noStrike" cap="none">
                <a:solidFill>
                  <a:srgbClr val="FFFFFF"/>
                </a:solidFill>
                <a:latin typeface="Cambria"/>
                <a:ea typeface="Cambria"/>
                <a:cs typeface="Cambria"/>
                <a:sym typeface="Cambria"/>
              </a:rPr>
              <a:t>1</a:t>
            </a:r>
            <a:endParaRPr sz="1300" b="0" i="0" u="none" strike="noStrike" cap="none">
              <a:solidFill>
                <a:schemeClr val="dk1"/>
              </a:solidFill>
              <a:latin typeface="Calibri"/>
              <a:ea typeface="Calibri"/>
              <a:cs typeface="Calibri"/>
              <a:sym typeface="Calibri"/>
            </a:endParaRPr>
          </a:p>
        </p:txBody>
      </p:sp>
      <p:sp>
        <p:nvSpPr>
          <p:cNvPr id="116" name="Google Shape;116;p7"/>
          <p:cNvSpPr/>
          <p:nvPr/>
        </p:nvSpPr>
        <p:spPr>
          <a:xfrm>
            <a:off x="8028432" y="388620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F2A44"/>
              </a:buClr>
              <a:buSzPts val="1250"/>
              <a:buFont typeface="Calibri"/>
              <a:buNone/>
            </a:pPr>
            <a:r>
              <a:rPr lang="en-US" sz="1250" b="1" i="0" u="none" strike="noStrike" cap="none">
                <a:solidFill>
                  <a:srgbClr val="1F2A44"/>
                </a:solidFill>
                <a:latin typeface="Calibri"/>
                <a:ea typeface="Calibri"/>
                <a:cs typeface="Calibri"/>
                <a:sym typeface="Calibri"/>
              </a:rPr>
              <a:t>Exact data didn't help  </a:t>
            </a:r>
            <a:r>
              <a:rPr lang="en-US" sz="1250" b="0" i="0" u="none" strike="noStrike" cap="none">
                <a:solidFill>
                  <a:srgbClr val="22272E"/>
                </a:solidFill>
                <a:latin typeface="Calibri"/>
                <a:ea typeface="Calibri"/>
                <a:cs typeface="Calibri"/>
                <a:sym typeface="Calibri"/>
              </a:rPr>
              <a:t>→ the error is structural, not data quality.</a:t>
            </a:r>
            <a:endParaRPr sz="1250" b="0" i="0" u="none" strike="noStrike" cap="none">
              <a:solidFill>
                <a:schemeClr val="dk1"/>
              </a:solidFill>
              <a:latin typeface="Calibri"/>
              <a:ea typeface="Calibri"/>
              <a:cs typeface="Calibri"/>
              <a:sym typeface="Calibri"/>
            </a:endParaRPr>
          </a:p>
        </p:txBody>
      </p:sp>
      <p:sp>
        <p:nvSpPr>
          <p:cNvPr id="117" name="Google Shape;117;p7"/>
          <p:cNvSpPr/>
          <p:nvPr/>
        </p:nvSpPr>
        <p:spPr>
          <a:xfrm>
            <a:off x="7589520" y="4672584"/>
            <a:ext cx="310896" cy="310896"/>
          </a:xfrm>
          <a:prstGeom prst="ellipse">
            <a:avLst/>
          </a:prstGeom>
          <a:solidFill>
            <a:srgbClr val="F4A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7589520" y="4672584"/>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i="0" u="none" strike="noStrike" cap="none">
                <a:solidFill>
                  <a:srgbClr val="FFFFFF"/>
                </a:solidFill>
                <a:latin typeface="Cambria"/>
                <a:ea typeface="Cambria"/>
                <a:cs typeface="Cambria"/>
                <a:sym typeface="Cambria"/>
              </a:rPr>
              <a:t>2</a:t>
            </a:r>
            <a:endParaRPr sz="1300" b="0" i="0" u="none" strike="noStrike" cap="none">
              <a:solidFill>
                <a:schemeClr val="dk1"/>
              </a:solidFill>
              <a:latin typeface="Calibri"/>
              <a:ea typeface="Calibri"/>
              <a:cs typeface="Calibri"/>
              <a:sym typeface="Calibri"/>
            </a:endParaRPr>
          </a:p>
        </p:txBody>
      </p:sp>
      <p:sp>
        <p:nvSpPr>
          <p:cNvPr id="119" name="Google Shape;119;p7"/>
          <p:cNvSpPr/>
          <p:nvPr/>
        </p:nvSpPr>
        <p:spPr>
          <a:xfrm>
            <a:off x="8028432" y="4599432"/>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F2A44"/>
              </a:buClr>
              <a:buSzPts val="1250"/>
              <a:buFont typeface="Calibri"/>
              <a:buNone/>
            </a:pPr>
            <a:r>
              <a:rPr lang="en-US" sz="1250" b="1" i="0" u="none" strike="noStrike" cap="none">
                <a:solidFill>
                  <a:srgbClr val="1F2A44"/>
                </a:solidFill>
                <a:latin typeface="Calibri"/>
                <a:ea typeface="Calibri"/>
                <a:cs typeface="Calibri"/>
                <a:sym typeface="Calibri"/>
              </a:rPr>
              <a:t>Raise degree (4→7)  </a:t>
            </a:r>
            <a:r>
              <a:rPr lang="en-US" sz="1250" b="0" i="0" u="none" strike="noStrike" cap="none">
                <a:solidFill>
                  <a:srgbClr val="22272E"/>
                </a:solidFill>
                <a:latin typeface="Calibri"/>
                <a:ea typeface="Calibri"/>
                <a:cs typeface="Calibri"/>
                <a:sym typeface="Calibri"/>
              </a:rPr>
              <a:t>→ pushes distortion to terms we ignore.</a:t>
            </a:r>
            <a:endParaRPr sz="1250" b="0" i="0" u="none" strike="noStrike" cap="none">
              <a:solidFill>
                <a:schemeClr val="dk1"/>
              </a:solidFill>
              <a:latin typeface="Calibri"/>
              <a:ea typeface="Calibri"/>
              <a:cs typeface="Calibri"/>
              <a:sym typeface="Calibri"/>
            </a:endParaRPr>
          </a:p>
        </p:txBody>
      </p:sp>
      <p:sp>
        <p:nvSpPr>
          <p:cNvPr id="120" name="Google Shape;120;p7"/>
          <p:cNvSpPr/>
          <p:nvPr/>
        </p:nvSpPr>
        <p:spPr>
          <a:xfrm>
            <a:off x="7589520" y="5385816"/>
            <a:ext cx="310896" cy="310896"/>
          </a:xfrm>
          <a:prstGeom prst="ellipse">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7589520" y="5385816"/>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i="0" u="none" strike="noStrike" cap="none">
                <a:solidFill>
                  <a:srgbClr val="FFFFFF"/>
                </a:solidFill>
                <a:latin typeface="Cambria"/>
                <a:ea typeface="Cambria"/>
                <a:cs typeface="Cambria"/>
                <a:sym typeface="Cambria"/>
              </a:rPr>
              <a:t>3</a:t>
            </a:r>
            <a:endParaRPr sz="1300" b="0" i="0" u="none" strike="noStrike" cap="none">
              <a:solidFill>
                <a:schemeClr val="dk1"/>
              </a:solidFill>
              <a:latin typeface="Calibri"/>
              <a:ea typeface="Calibri"/>
              <a:cs typeface="Calibri"/>
              <a:sym typeface="Calibri"/>
            </a:endParaRPr>
          </a:p>
        </p:txBody>
      </p:sp>
      <p:sp>
        <p:nvSpPr>
          <p:cNvPr id="122" name="Google Shape;122;p7"/>
          <p:cNvSpPr/>
          <p:nvPr/>
        </p:nvSpPr>
        <p:spPr>
          <a:xfrm>
            <a:off x="8028432" y="5312664"/>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F2A44"/>
              </a:buClr>
              <a:buSzPts val="1250"/>
              <a:buFont typeface="Calibri"/>
              <a:buNone/>
            </a:pPr>
            <a:r>
              <a:rPr lang="en-US" sz="1250" b="1" i="0" u="none" strike="noStrike" cap="none">
                <a:solidFill>
                  <a:srgbClr val="1F2A44"/>
                </a:solidFill>
                <a:latin typeface="Calibri"/>
                <a:ea typeface="Calibri"/>
                <a:cs typeface="Calibri"/>
                <a:sym typeface="Calibri"/>
              </a:rPr>
              <a:t>Shrink window  </a:t>
            </a:r>
            <a:r>
              <a:rPr lang="en-US" sz="1250" b="0" i="0" u="none" strike="noStrike" cap="none">
                <a:solidFill>
                  <a:srgbClr val="22272E"/>
                </a:solidFill>
                <a:latin typeface="Calibri"/>
                <a:ea typeface="Calibri"/>
                <a:cs typeface="Calibri"/>
                <a:sym typeface="Calibri"/>
              </a:rPr>
              <a:t>→ high powers shrink, ~10× error drop.</a:t>
            </a:r>
            <a:endParaRPr sz="1250" b="0" i="0" u="none" strike="noStrike" cap="none">
              <a:solidFill>
                <a:schemeClr val="dk1"/>
              </a:solidFill>
              <a:latin typeface="Calibri"/>
              <a:ea typeface="Calibri"/>
              <a:cs typeface="Calibri"/>
              <a:sym typeface="Calibri"/>
            </a:endParaRPr>
          </a:p>
        </p:txBody>
      </p:sp>
      <p:sp>
        <p:nvSpPr>
          <p:cNvPr id="123" name="Google Shape;123;p7"/>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24" name="Google Shape;124;p7"/>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sp>
        <p:nvSpPr>
          <p:cNvPr id="168" name="Google Shape;168;p10"/>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STAGE 3 — THE FIX &amp; RESULT</a:t>
            </a:r>
            <a:endParaRPr sz="1300" b="0" i="0" u="none" strike="noStrike" cap="none">
              <a:solidFill>
                <a:schemeClr val="dk1"/>
              </a:solidFill>
              <a:latin typeface="Calibri"/>
              <a:ea typeface="Calibri"/>
              <a:cs typeface="Calibri"/>
              <a:sym typeface="Calibri"/>
            </a:endParaRPr>
          </a:p>
        </p:txBody>
      </p:sp>
      <p:sp>
        <p:nvSpPr>
          <p:cNvPr id="169" name="Google Shape;169;p10"/>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Shrinking the window lets LSSR recover the exact diagonal</a:t>
            </a:r>
            <a:endParaRPr sz="2900" b="0" i="0" u="none" strike="noStrike" cap="none">
              <a:solidFill>
                <a:schemeClr val="dk1"/>
              </a:solidFill>
              <a:latin typeface="Calibri"/>
              <a:ea typeface="Calibri"/>
              <a:cs typeface="Calibri"/>
              <a:sym typeface="Calibri"/>
            </a:endParaRPr>
          </a:p>
        </p:txBody>
      </p:sp>
      <p:pic>
        <p:nvPicPr>
          <p:cNvPr id="170" name="Google Shape;170;p10" descr="/home/claude/figs/stage3_heatmap.png"/>
          <p:cNvPicPr preferRelativeResize="0"/>
          <p:nvPr/>
        </p:nvPicPr>
        <p:blipFill rotWithShape="1">
          <a:blip r:embed="rId3">
            <a:alphaModFix/>
          </a:blip>
          <a:srcRect/>
          <a:stretch/>
        </p:blipFill>
        <p:spPr>
          <a:xfrm>
            <a:off x="640080" y="2331720"/>
            <a:ext cx="7040880" cy="3520440"/>
          </a:xfrm>
          <a:prstGeom prst="rect">
            <a:avLst/>
          </a:prstGeom>
          <a:noFill/>
          <a:ln>
            <a:noFill/>
          </a:ln>
        </p:spPr>
      </p:pic>
      <p:sp>
        <p:nvSpPr>
          <p:cNvPr id="171" name="Google Shape;171;p10"/>
          <p:cNvSpPr/>
          <p:nvPr/>
        </p:nvSpPr>
        <p:spPr>
          <a:xfrm>
            <a:off x="7955280" y="2286000"/>
            <a:ext cx="3703320" cy="1600200"/>
          </a:xfrm>
          <a:prstGeom prst="roundRect">
            <a:avLst>
              <a:gd name="adj" fmla="val 6857"/>
            </a:avLst>
          </a:prstGeom>
          <a:solidFill>
            <a:srgbClr val="EDF6F4"/>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0"/>
          <p:cNvSpPr/>
          <p:nvPr/>
        </p:nvSpPr>
        <p:spPr>
          <a:xfrm>
            <a:off x="8183880" y="2450592"/>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9D8F"/>
              </a:buClr>
              <a:buSzPts val="1700"/>
              <a:buFont typeface="Cambria"/>
              <a:buNone/>
            </a:pPr>
            <a:r>
              <a:rPr lang="en-US" sz="1700" b="1" i="0" u="none" strike="noStrike" cap="none">
                <a:solidFill>
                  <a:srgbClr val="2A9D8F"/>
                </a:solidFill>
                <a:latin typeface="Cambria"/>
                <a:ea typeface="Cambria"/>
                <a:cs typeface="Cambria"/>
                <a:sym typeface="Cambria"/>
              </a:rPr>
              <a:t>Window: [0, 0.5], degree 9</a:t>
            </a:r>
            <a:endParaRPr sz="1700" b="0" i="0" u="none" strike="noStrike" cap="none">
              <a:solidFill>
                <a:schemeClr val="dk1"/>
              </a:solidFill>
              <a:latin typeface="Calibri"/>
              <a:ea typeface="Calibri"/>
              <a:cs typeface="Calibri"/>
              <a:sym typeface="Calibri"/>
            </a:endParaRPr>
          </a:p>
        </p:txBody>
      </p:sp>
      <p:sp>
        <p:nvSpPr>
          <p:cNvPr id="173" name="Google Shape;173;p10"/>
          <p:cNvSpPr/>
          <p:nvPr/>
        </p:nvSpPr>
        <p:spPr>
          <a:xfrm>
            <a:off x="8183880" y="2880360"/>
            <a:ext cx="3291840" cy="10058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1F2A44"/>
              </a:buClr>
              <a:buSzPts val="1300"/>
              <a:buFont typeface="Calibri"/>
              <a:buNone/>
            </a:pPr>
            <a:r>
              <a:rPr lang="en-US" sz="1300" b="1" i="0" u="none" strike="noStrike" cap="none">
                <a:solidFill>
                  <a:srgbClr val="1F2A44"/>
                </a:solidFill>
                <a:latin typeface="Calibri"/>
                <a:ea typeface="Calibri"/>
                <a:cs typeface="Calibri"/>
                <a:sym typeface="Calibri"/>
              </a:rPr>
              <a:t>Window → [0, 0.5] opens a clean gap. </a:t>
            </a:r>
            <a:r>
              <a:rPr lang="en-US" sz="1300" b="0" i="0" u="none" strike="noStrike" cap="none">
                <a:solidFill>
                  <a:srgbClr val="22272E"/>
                </a:solidFill>
                <a:latin typeface="Calibri"/>
                <a:ea typeface="Calibri"/>
                <a:cs typeface="Calibri"/>
                <a:sym typeface="Calibri"/>
              </a:rPr>
              <a:t>A loose threshold keeps the full diagonal — proving the answer is eᵃᵗ.</a:t>
            </a:r>
            <a:endParaRPr sz="1300" b="0" i="0" u="none" strike="noStrike" cap="none">
              <a:solidFill>
                <a:schemeClr val="dk1"/>
              </a:solidFill>
              <a:latin typeface="Calibri"/>
              <a:ea typeface="Calibri"/>
              <a:cs typeface="Calibri"/>
              <a:sym typeface="Calibri"/>
            </a:endParaRPr>
          </a:p>
        </p:txBody>
      </p:sp>
      <p:sp>
        <p:nvSpPr>
          <p:cNvPr id="174" name="Google Shape;174;p10"/>
          <p:cNvSpPr/>
          <p:nvPr/>
        </p:nvSpPr>
        <p:spPr>
          <a:xfrm>
            <a:off x="7955280" y="4069080"/>
            <a:ext cx="3703320" cy="1737360"/>
          </a:xfrm>
          <a:prstGeom prst="rect">
            <a:avLst/>
          </a:prstGeom>
          <a:noFill/>
          <a:ln>
            <a:noFill/>
          </a:ln>
        </p:spPr>
        <p:txBody>
          <a:bodyPr spcFirstLastPara="1" wrap="square" lIns="0" tIns="0" rIns="0" bIns="0" anchor="t" anchorCtr="0">
            <a:noAutofit/>
          </a:bodyPr>
          <a:lstStyle/>
          <a:p>
            <a:pPr marL="0" marR="0" lvl="0" indent="0" algn="l" rtl="0">
              <a:lnSpc>
                <a:spcPct val="118000"/>
              </a:lnSpc>
              <a:spcBef>
                <a:spcPts val="0"/>
              </a:spcBef>
              <a:spcAft>
                <a:spcPts val="0"/>
              </a:spcAft>
              <a:buClr>
                <a:srgbClr val="E76F51"/>
              </a:buClr>
              <a:buSzPts val="1350"/>
              <a:buFont typeface="Calibri"/>
              <a:buNone/>
            </a:pPr>
            <a:r>
              <a:rPr lang="en-US" sz="1350" b="1" i="0" u="none" strike="noStrike" cap="none">
                <a:solidFill>
                  <a:srgbClr val="E76F51"/>
                </a:solidFill>
                <a:latin typeface="Calibri"/>
                <a:ea typeface="Calibri"/>
                <a:cs typeface="Calibri"/>
                <a:sym typeface="Calibri"/>
              </a:rPr>
              <a:t>The frontier:  </a:t>
            </a:r>
            <a:r>
              <a:rPr lang="en-US" sz="1350" b="0" i="0" u="none" strike="noStrike" cap="none">
                <a:solidFill>
                  <a:srgbClr val="22272E"/>
                </a:solidFill>
                <a:latin typeface="Calibri"/>
                <a:ea typeface="Calibri"/>
                <a:cs typeface="Calibri"/>
                <a:sym typeface="Calibri"/>
              </a:rPr>
              <a:t>with degree raised and a loose threshold, the diagonal now matches to ~10⁻³ through 1/5! — the old frontier is gone.</a:t>
            </a:r>
            <a:endParaRPr sz="1350" b="0" i="0" u="none" strike="noStrike" cap="none">
              <a:solidFill>
                <a:schemeClr val="dk1"/>
              </a:solidFill>
              <a:latin typeface="Calibri"/>
              <a:ea typeface="Calibri"/>
              <a:cs typeface="Calibri"/>
              <a:sym typeface="Calibri"/>
            </a:endParaRPr>
          </a:p>
        </p:txBody>
      </p:sp>
      <p:sp>
        <p:nvSpPr>
          <p:cNvPr id="175" name="Google Shape;175;p10"/>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76" name="Google Shape;176;p10"/>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sp>
        <p:nvSpPr>
          <p:cNvPr id="154" name="Google Shape;154;p9"/>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STAGE 3 — Eᵃᵗ, THE PROBLEM</a:t>
            </a:r>
            <a:endParaRPr sz="1300" b="0" i="0" u="none" strike="noStrike" cap="none">
              <a:solidFill>
                <a:schemeClr val="dk1"/>
              </a:solidFill>
              <a:latin typeface="Calibri"/>
              <a:ea typeface="Calibri"/>
              <a:cs typeface="Calibri"/>
              <a:sym typeface="Calibri"/>
            </a:endParaRPr>
          </a:p>
        </p:txBody>
      </p:sp>
      <p:sp>
        <p:nvSpPr>
          <p:cNvPr id="155" name="Google Shape;155;p9"/>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Two variables → a 16-term grid, and least squares fails</a:t>
            </a:r>
            <a:endParaRPr sz="2900" b="0" i="0" u="none" strike="noStrike" cap="none">
              <a:solidFill>
                <a:schemeClr val="dk1"/>
              </a:solidFill>
              <a:latin typeface="Calibri"/>
              <a:ea typeface="Calibri"/>
              <a:cs typeface="Calibri"/>
              <a:sym typeface="Calibri"/>
            </a:endParaRPr>
          </a:p>
        </p:txBody>
      </p:sp>
      <p:sp>
        <p:nvSpPr>
          <p:cNvPr id="156" name="Google Shape;156;p9"/>
          <p:cNvSpPr/>
          <p:nvPr/>
        </p:nvSpPr>
        <p:spPr>
          <a:xfrm>
            <a:off x="548640" y="2103120"/>
            <a:ext cx="3794760" cy="1828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72E"/>
              </a:buClr>
              <a:buSzPts val="1550"/>
              <a:buFont typeface="Calibri"/>
              <a:buNone/>
            </a:pPr>
            <a:r>
              <a:rPr lang="en-US" sz="1550" b="0" i="0" u="none" strike="noStrike" cap="none">
                <a:solidFill>
                  <a:srgbClr val="22272E"/>
                </a:solidFill>
                <a:latin typeface="Calibri"/>
                <a:ea typeface="Calibri"/>
                <a:cs typeface="Calibri"/>
                <a:sym typeface="Calibri"/>
              </a:rPr>
              <a:t>eᵃᵗ pairs a power of a with a power of t → a 4×4 grid of 16 monomials. </a:t>
            </a:r>
            <a:r>
              <a:rPr lang="en-US" sz="1550" b="1" i="0" u="none" strike="noStrike" cap="none">
                <a:solidFill>
                  <a:srgbClr val="1F2A44"/>
                </a:solidFill>
                <a:latin typeface="Calibri"/>
                <a:ea typeface="Calibri"/>
                <a:cs typeface="Calibri"/>
                <a:sym typeface="Calibri"/>
              </a:rPr>
              <a:t>The true answer is DIAGONAL (1/n!) and m</a:t>
            </a:r>
            <a:r>
              <a:rPr lang="en-US" sz="1550" b="1">
                <a:solidFill>
                  <a:srgbClr val="1F2A44"/>
                </a:solidFill>
                <a:latin typeface="Calibri"/>
                <a:ea typeface="Calibri"/>
                <a:cs typeface="Calibri"/>
                <a:sym typeface="Calibri"/>
              </a:rPr>
              <a:t>=n</a:t>
            </a:r>
            <a:r>
              <a:rPr lang="en-US" sz="1550" b="1" i="0" u="none" strike="noStrike" cap="none">
                <a:solidFill>
                  <a:srgbClr val="1F2A44"/>
                </a:solidFill>
                <a:latin typeface="Calibri"/>
                <a:ea typeface="Calibri"/>
                <a:cs typeface="Calibri"/>
                <a:sym typeface="Calibri"/>
              </a:rPr>
              <a:t>; the other 12 cells must be zero.</a:t>
            </a:r>
            <a:endParaRPr sz="1550" b="0" i="0" u="none" strike="noStrike" cap="none">
              <a:solidFill>
                <a:schemeClr val="dk1"/>
              </a:solidFill>
              <a:latin typeface="Calibri"/>
              <a:ea typeface="Calibri"/>
              <a:cs typeface="Calibri"/>
              <a:sym typeface="Calibri"/>
            </a:endParaRPr>
          </a:p>
        </p:txBody>
      </p:sp>
      <p:sp>
        <p:nvSpPr>
          <p:cNvPr id="157" name="Google Shape;157;p9"/>
          <p:cNvSpPr/>
          <p:nvPr/>
        </p:nvSpPr>
        <p:spPr>
          <a:xfrm>
            <a:off x="548640" y="3977640"/>
            <a:ext cx="3794760" cy="1874520"/>
          </a:xfrm>
          <a:prstGeom prst="roundRect">
            <a:avLst>
              <a:gd name="adj" fmla="val 5854"/>
            </a:avLst>
          </a:prstGeom>
          <a:solidFill>
            <a:srgbClr val="FDF3EE"/>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777240" y="4133088"/>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76F51"/>
              </a:buClr>
              <a:buSzPts val="1800"/>
              <a:buFont typeface="Cambria"/>
              <a:buNone/>
            </a:pPr>
            <a:r>
              <a:rPr lang="en-US" sz="1800" b="1" i="0" u="none" strike="noStrike" cap="none">
                <a:solidFill>
                  <a:srgbClr val="E76F51"/>
                </a:solidFill>
                <a:latin typeface="Cambria"/>
                <a:ea typeface="Cambria"/>
                <a:cs typeface="Cambria"/>
                <a:sym typeface="Cambria"/>
              </a:rPr>
              <a:t>Collinearity</a:t>
            </a:r>
            <a:endParaRPr sz="1800" b="0" i="0" u="none" strike="noStrike" cap="none">
              <a:solidFill>
                <a:schemeClr val="dk1"/>
              </a:solidFill>
              <a:latin typeface="Calibri"/>
              <a:ea typeface="Calibri"/>
              <a:cs typeface="Calibri"/>
              <a:sym typeface="Calibri"/>
            </a:endParaRPr>
          </a:p>
        </p:txBody>
      </p:sp>
      <p:sp>
        <p:nvSpPr>
          <p:cNvPr id="159" name="Google Shape;159;p9"/>
          <p:cNvSpPr/>
          <p:nvPr/>
        </p:nvSpPr>
        <p:spPr>
          <a:xfrm>
            <a:off x="777240" y="4572000"/>
            <a:ext cx="3337560" cy="1188720"/>
          </a:xfrm>
          <a:prstGeom prst="rect">
            <a:avLst/>
          </a:prstGeom>
          <a:noFill/>
          <a:ln>
            <a:noFill/>
          </a:ln>
        </p:spPr>
        <p:txBody>
          <a:bodyPr spcFirstLastPara="1" wrap="square" lIns="0" tIns="0" rIns="0" bIns="0" anchor="ctr" anchorCtr="0">
            <a:noAutofit/>
          </a:bodyPr>
          <a:lstStyle/>
          <a:p>
            <a:pPr marL="0" marR="0" lvl="0" indent="0" algn="l" rtl="0">
              <a:lnSpc>
                <a:spcPct val="118000"/>
              </a:lnSpc>
              <a:spcBef>
                <a:spcPts val="0"/>
              </a:spcBef>
              <a:spcAft>
                <a:spcPts val="0"/>
              </a:spcAft>
              <a:buClr>
                <a:srgbClr val="1F2A44"/>
              </a:buClr>
              <a:buSzPts val="1350"/>
              <a:buFont typeface="Calibri"/>
              <a:buNone/>
            </a:pPr>
            <a:r>
              <a:rPr lang="en-US" sz="1350" b="1" i="0" u="none" strike="noStrike" cap="none">
                <a:solidFill>
                  <a:srgbClr val="1F2A44"/>
                </a:solidFill>
                <a:latin typeface="Calibri"/>
                <a:ea typeface="Calibri"/>
                <a:cs typeface="Calibri"/>
                <a:sym typeface="Calibri"/>
              </a:rPr>
              <a:t>Junk reaches −1.24, bigger than a real term (0.95). </a:t>
            </a:r>
            <a:r>
              <a:rPr lang="en-US" sz="1350" b="0" i="0" u="none" strike="noStrike" cap="none">
                <a:solidFill>
                  <a:srgbClr val="22272E"/>
                </a:solidFill>
                <a:latin typeface="Calibri"/>
                <a:ea typeface="Calibri"/>
                <a:cs typeface="Calibri"/>
                <a:sym typeface="Calibri"/>
              </a:rPr>
              <a:t>No threshold can separate them — and exact data doesn't help.</a:t>
            </a:r>
            <a:endParaRPr sz="1350" b="0" i="0" u="none" strike="noStrike" cap="none">
              <a:solidFill>
                <a:schemeClr val="dk1"/>
              </a:solidFill>
              <a:latin typeface="Calibri"/>
              <a:ea typeface="Calibri"/>
              <a:cs typeface="Calibri"/>
              <a:sym typeface="Calibri"/>
            </a:endParaRPr>
          </a:p>
        </p:txBody>
      </p:sp>
      <p:pic>
        <p:nvPicPr>
          <p:cNvPr id="160" name="Google Shape;160;p9" descr="/home/claude/figs/stage3_messy.png"/>
          <p:cNvPicPr preferRelativeResize="0"/>
          <p:nvPr/>
        </p:nvPicPr>
        <p:blipFill rotWithShape="1">
          <a:blip r:embed="rId3">
            <a:alphaModFix/>
          </a:blip>
          <a:srcRect/>
          <a:stretch/>
        </p:blipFill>
        <p:spPr>
          <a:xfrm>
            <a:off x="4572000" y="2286000"/>
            <a:ext cx="7132320" cy="3566160"/>
          </a:xfrm>
          <a:prstGeom prst="rect">
            <a:avLst/>
          </a:prstGeom>
          <a:noFill/>
          <a:ln>
            <a:noFill/>
          </a:ln>
        </p:spPr>
      </p:pic>
      <p:sp>
        <p:nvSpPr>
          <p:cNvPr id="161" name="Google Shape;161;p9"/>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62" name="Google Shape;162;p9"/>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7</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12"/>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A = 1 EXPERIMENT — LEARN_EXP_AFIXED.PY</a:t>
            </a:r>
            <a:endParaRPr sz="1300" b="0" i="0" u="none" strike="noStrike" cap="none">
              <a:solidFill>
                <a:schemeClr val="dk1"/>
              </a:solidFill>
              <a:latin typeface="Calibri"/>
              <a:ea typeface="Calibri"/>
              <a:cs typeface="Calibri"/>
              <a:sym typeface="Calibri"/>
            </a:endParaRPr>
          </a:p>
        </p:txBody>
      </p:sp>
      <p:sp>
        <p:nvSpPr>
          <p:cNvPr id="204" name="Google Shape;204;p12"/>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Accuracy is limited by conditioning — not noise</a:t>
            </a:r>
            <a:endParaRPr sz="2900" b="0" i="0" u="none" strike="noStrike" cap="none">
              <a:solidFill>
                <a:schemeClr val="dk1"/>
              </a:solidFill>
              <a:latin typeface="Calibri"/>
              <a:ea typeface="Calibri"/>
              <a:cs typeface="Calibri"/>
              <a:sym typeface="Calibri"/>
            </a:endParaRPr>
          </a:p>
        </p:txBody>
      </p:sp>
      <p:pic>
        <p:nvPicPr>
          <p:cNvPr id="205" name="Google Shape;205;p12" descr="/home/claude/figs/afixed_degrade.png"/>
          <p:cNvPicPr preferRelativeResize="0"/>
          <p:nvPr/>
        </p:nvPicPr>
        <p:blipFill rotWithShape="1">
          <a:blip r:embed="rId3">
            <a:alphaModFix/>
          </a:blip>
          <a:srcRect/>
          <a:stretch/>
        </p:blipFill>
        <p:spPr>
          <a:xfrm>
            <a:off x="548640" y="2194560"/>
            <a:ext cx="7315200" cy="3922776"/>
          </a:xfrm>
          <a:prstGeom prst="rect">
            <a:avLst/>
          </a:prstGeom>
          <a:noFill/>
          <a:ln>
            <a:noFill/>
          </a:ln>
        </p:spPr>
      </p:pic>
      <p:sp>
        <p:nvSpPr>
          <p:cNvPr id="206" name="Google Shape;206;p12"/>
          <p:cNvSpPr/>
          <p:nvPr/>
        </p:nvSpPr>
        <p:spPr>
          <a:xfrm>
            <a:off x="8092440" y="2286000"/>
            <a:ext cx="3566160" cy="1371600"/>
          </a:xfrm>
          <a:prstGeom prst="roundRect">
            <a:avLst>
              <a:gd name="adj" fmla="val 8000"/>
            </a:avLst>
          </a:prstGeom>
          <a:solidFill>
            <a:srgbClr val="F2F5FA"/>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321040" y="2432304"/>
            <a:ext cx="31089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600"/>
              <a:buFont typeface="Cambria"/>
              <a:buNone/>
            </a:pPr>
            <a:r>
              <a:rPr lang="en-US" sz="1600" b="1" i="0" u="none" strike="noStrike" cap="none">
                <a:solidFill>
                  <a:srgbClr val="1F2A44"/>
                </a:solidFill>
                <a:latin typeface="Cambria"/>
                <a:ea typeface="Cambria"/>
                <a:cs typeface="Cambria"/>
                <a:sym typeface="Cambria"/>
              </a:rPr>
              <a:t>Fixing a = 1 → eᵗ</a:t>
            </a:r>
            <a:endParaRPr sz="1600" b="0" i="0" u="none" strike="noStrike" cap="none">
              <a:solidFill>
                <a:schemeClr val="dk1"/>
              </a:solidFill>
              <a:latin typeface="Calibri"/>
              <a:ea typeface="Calibri"/>
              <a:cs typeface="Calibri"/>
              <a:sym typeface="Calibri"/>
            </a:endParaRPr>
          </a:p>
        </p:txBody>
      </p:sp>
      <p:sp>
        <p:nvSpPr>
          <p:cNvPr id="208" name="Google Shape;208;p12"/>
          <p:cNvSpPr/>
          <p:nvPr/>
        </p:nvSpPr>
        <p:spPr>
          <a:xfrm>
            <a:off x="8321040" y="2834640"/>
            <a:ext cx="3200400" cy="7772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Clr>
                <a:srgbClr val="22272E"/>
              </a:buClr>
              <a:buSzPts val="1300"/>
              <a:buFont typeface="Calibri"/>
              <a:buNone/>
            </a:pPr>
            <a:r>
              <a:rPr lang="en-US" sz="1300" b="0" i="0" u="none" strike="noStrike" cap="none">
                <a:solidFill>
                  <a:srgbClr val="22272E"/>
                </a:solidFill>
                <a:latin typeface="Calibri"/>
                <a:ea typeface="Calibri"/>
                <a:cs typeface="Calibri"/>
                <a:sym typeface="Calibri"/>
              </a:rPr>
              <a:t>Drops the a-axis to one variable. We push degree to 11 — but eᵗ is infinite, the basis is finite.</a:t>
            </a:r>
            <a:endParaRPr sz="1300" b="0" i="0" u="none" strike="noStrike" cap="none">
              <a:solidFill>
                <a:schemeClr val="dk1"/>
              </a:solidFill>
              <a:latin typeface="Calibri"/>
              <a:ea typeface="Calibri"/>
              <a:cs typeface="Calibri"/>
              <a:sym typeface="Calibri"/>
            </a:endParaRPr>
          </a:p>
        </p:txBody>
      </p:sp>
      <p:sp>
        <p:nvSpPr>
          <p:cNvPr id="209" name="Google Shape;209;p12"/>
          <p:cNvSpPr/>
          <p:nvPr/>
        </p:nvSpPr>
        <p:spPr>
          <a:xfrm>
            <a:off x="8092440" y="3840480"/>
            <a:ext cx="3566160" cy="1188720"/>
          </a:xfrm>
          <a:prstGeom prst="rect">
            <a:avLst/>
          </a:prstGeom>
          <a:noFill/>
          <a:ln>
            <a:noFill/>
          </a:ln>
        </p:spPr>
        <p:txBody>
          <a:bodyPr spcFirstLastPara="1" wrap="square" lIns="0" tIns="0" rIns="0" bIns="0" anchor="ctr" anchorCtr="0">
            <a:noAutofit/>
          </a:bodyPr>
          <a:lstStyle/>
          <a:p>
            <a:pPr marL="0" marR="0" lvl="0" indent="0" algn="l" rtl="0">
              <a:lnSpc>
                <a:spcPct val="118000"/>
              </a:lnSpc>
              <a:spcBef>
                <a:spcPts val="0"/>
              </a:spcBef>
              <a:spcAft>
                <a:spcPts val="0"/>
              </a:spcAft>
              <a:buClr>
                <a:srgbClr val="2A9D8F"/>
              </a:buClr>
              <a:buSzPts val="1350"/>
              <a:buFont typeface="Calibri"/>
              <a:buNone/>
            </a:pPr>
            <a:r>
              <a:rPr lang="en-US" sz="1350" b="1" i="0" u="none" strike="noStrike" cap="none">
                <a:solidFill>
                  <a:srgbClr val="2A9D8F"/>
                </a:solidFill>
                <a:latin typeface="Calibri"/>
                <a:ea typeface="Calibri"/>
                <a:cs typeface="Calibri"/>
                <a:sym typeface="Calibri"/>
              </a:rPr>
              <a:t>QR/SVD vs normal eqns:  </a:t>
            </a:r>
            <a:r>
              <a:rPr lang="en-US" sz="1350" b="0" i="0" u="none" strike="noStrike" cap="none">
                <a:solidFill>
                  <a:srgbClr val="22272E"/>
                </a:solidFill>
                <a:latin typeface="Calibri"/>
                <a:ea typeface="Calibri"/>
                <a:cs typeface="Calibri"/>
                <a:sym typeface="Calibri"/>
              </a:rPr>
              <a:t>1.2×10⁻⁷ vs 40 error — same data. Normal eqns square the condition number.</a:t>
            </a:r>
            <a:endParaRPr sz="1350" b="0" i="0" u="none" strike="noStrike" cap="none">
              <a:solidFill>
                <a:schemeClr val="dk1"/>
              </a:solidFill>
              <a:latin typeface="Calibri"/>
              <a:ea typeface="Calibri"/>
              <a:cs typeface="Calibri"/>
              <a:sym typeface="Calibri"/>
            </a:endParaRPr>
          </a:p>
        </p:txBody>
      </p:sp>
      <p:sp>
        <p:nvSpPr>
          <p:cNvPr id="210" name="Google Shape;210;p12"/>
          <p:cNvSpPr/>
          <p:nvPr/>
        </p:nvSpPr>
        <p:spPr>
          <a:xfrm>
            <a:off x="8092440" y="5074920"/>
            <a:ext cx="3566160" cy="91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E76F51"/>
              </a:buClr>
              <a:buSzPts val="1250"/>
              <a:buFont typeface="Calibri"/>
              <a:buNone/>
            </a:pPr>
            <a:r>
              <a:rPr lang="en-US" sz="1250" b="1" i="1" u="none" strike="noStrike" cap="none">
                <a:solidFill>
                  <a:srgbClr val="E76F51"/>
                </a:solidFill>
                <a:latin typeface="Calibri"/>
                <a:ea typeface="Calibri"/>
                <a:cs typeface="Calibri"/>
                <a:sym typeface="Calibri"/>
              </a:rPr>
              <a:t>The data is exact — no measurement noise. High-order terms hit the float floor (1/10! ≈ 3×10⁻⁷). It's numerical, not statistical.</a:t>
            </a:r>
            <a:endParaRPr sz="1250" b="0" i="0" u="none" strike="noStrike" cap="none">
              <a:solidFill>
                <a:schemeClr val="dk1"/>
              </a:solidFill>
              <a:latin typeface="Calibri"/>
              <a:ea typeface="Calibri"/>
              <a:cs typeface="Calibri"/>
              <a:sym typeface="Calibri"/>
            </a:endParaRPr>
          </a:p>
        </p:txBody>
      </p:sp>
      <p:sp>
        <p:nvSpPr>
          <p:cNvPr id="211" name="Google Shape;211;p12"/>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212" name="Google Shape;212;p12"/>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10</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sp>
        <p:nvSpPr>
          <p:cNvPr id="182" name="Google Shape;182;p11"/>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METHODOLOGY</a:t>
            </a:r>
            <a:endParaRPr sz="1300" b="0" i="0" u="none" strike="noStrike" cap="none">
              <a:solidFill>
                <a:schemeClr val="dk1"/>
              </a:solidFill>
              <a:latin typeface="Calibri"/>
              <a:ea typeface="Calibri"/>
              <a:cs typeface="Calibri"/>
              <a:sym typeface="Calibri"/>
            </a:endParaRPr>
          </a:p>
        </p:txBody>
      </p:sp>
      <p:sp>
        <p:nvSpPr>
          <p:cNvPr id="183" name="Google Shape;183;p11"/>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Two independent implementations — a blind cross-check</a:t>
            </a:r>
            <a:endParaRPr sz="2900" b="0" i="0" u="none" strike="noStrike" cap="none">
              <a:solidFill>
                <a:schemeClr val="dk1"/>
              </a:solidFill>
              <a:latin typeface="Calibri"/>
              <a:ea typeface="Calibri"/>
              <a:cs typeface="Calibri"/>
              <a:sym typeface="Calibri"/>
            </a:endParaRPr>
          </a:p>
        </p:txBody>
      </p:sp>
      <p:sp>
        <p:nvSpPr>
          <p:cNvPr id="184" name="Google Shape;184;p11"/>
          <p:cNvSpPr/>
          <p:nvPr/>
        </p:nvSpPr>
        <p:spPr>
          <a:xfrm>
            <a:off x="548640" y="2103120"/>
            <a:ext cx="11064240" cy="8229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2272E"/>
              </a:buClr>
              <a:buSzPts val="1600"/>
              <a:buFont typeface="Calibri"/>
              <a:buNone/>
            </a:pPr>
            <a:r>
              <a:rPr lang="en-US" sz="1600" b="0" i="0" u="none" strike="noStrike" cap="none">
                <a:solidFill>
                  <a:srgbClr val="22272E"/>
                </a:solidFill>
                <a:latin typeface="Calibri"/>
                <a:ea typeface="Calibri"/>
                <a:cs typeface="Calibri"/>
                <a:sym typeface="Calibri"/>
              </a:rPr>
              <a:t>We each built the assigned problem separately, without seeing the other's code, then compared. </a:t>
            </a:r>
            <a:r>
              <a:rPr lang="en-US" sz="1600" b="1">
                <a:solidFill>
                  <a:srgbClr val="1F2A44"/>
                </a:solidFill>
                <a:latin typeface="Calibri"/>
                <a:ea typeface="Calibri"/>
                <a:cs typeface="Calibri"/>
                <a:sym typeface="Calibri"/>
              </a:rPr>
              <a:t>We used different methods, but arrived at the same conclusions.</a:t>
            </a:r>
            <a:endParaRPr sz="1600" b="0" i="0" u="none" strike="noStrike" cap="none">
              <a:solidFill>
                <a:schemeClr val="dk1"/>
              </a:solidFill>
              <a:latin typeface="Calibri"/>
              <a:ea typeface="Calibri"/>
              <a:cs typeface="Calibri"/>
              <a:sym typeface="Calibri"/>
            </a:endParaRPr>
          </a:p>
        </p:txBody>
      </p:sp>
      <p:sp>
        <p:nvSpPr>
          <p:cNvPr id="185" name="Google Shape;185;p11"/>
          <p:cNvSpPr/>
          <p:nvPr/>
        </p:nvSpPr>
        <p:spPr>
          <a:xfrm>
            <a:off x="548640" y="3108960"/>
            <a:ext cx="5349240" cy="2286000"/>
          </a:xfrm>
          <a:prstGeom prst="roundRect">
            <a:avLst>
              <a:gd name="adj" fmla="val 4800"/>
            </a:avLst>
          </a:prstGeom>
          <a:solidFill>
            <a:srgbClr val="EDF6F4"/>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868680" y="3383280"/>
            <a:ext cx="548640" cy="548640"/>
          </a:xfrm>
          <a:prstGeom prst="ellipse">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868680" y="338328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mbria"/>
              <a:buNone/>
            </a:pPr>
            <a:r>
              <a:rPr lang="en-US" sz="2200" b="1" i="0" u="none" strike="noStrike" cap="none">
                <a:solidFill>
                  <a:srgbClr val="FFFFFF"/>
                </a:solidFill>
                <a:latin typeface="Cambria"/>
                <a:ea typeface="Cambria"/>
                <a:cs typeface="Cambria"/>
                <a:sym typeface="Cambria"/>
              </a:rPr>
              <a:t>R</a:t>
            </a:r>
            <a:endParaRPr sz="2200" b="0" i="0" u="none" strike="noStrike" cap="none">
              <a:solidFill>
                <a:schemeClr val="dk1"/>
              </a:solidFill>
              <a:latin typeface="Calibri"/>
              <a:ea typeface="Calibri"/>
              <a:cs typeface="Calibri"/>
              <a:sym typeface="Calibri"/>
            </a:endParaRPr>
          </a:p>
        </p:txBody>
      </p:sp>
      <p:sp>
        <p:nvSpPr>
          <p:cNvPr id="188" name="Google Shape;188;p11"/>
          <p:cNvSpPr/>
          <p:nvPr/>
        </p:nvSpPr>
        <p:spPr>
          <a:xfrm>
            <a:off x="1554480" y="3429000"/>
            <a:ext cx="41148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900"/>
              <a:buFont typeface="Cambria"/>
              <a:buNone/>
            </a:pPr>
            <a:r>
              <a:rPr lang="en-US" sz="1900" b="1" i="0" u="none" strike="noStrike" cap="none">
                <a:solidFill>
                  <a:srgbClr val="1F2A44"/>
                </a:solidFill>
                <a:latin typeface="Cambria"/>
                <a:ea typeface="Cambria"/>
                <a:cs typeface="Cambria"/>
                <a:sym typeface="Cambria"/>
              </a:rPr>
              <a:t>Rainne</a:t>
            </a:r>
            <a:endParaRPr sz="1900" b="0" i="0" u="none" strike="noStrike" cap="none">
              <a:solidFill>
                <a:schemeClr val="dk1"/>
              </a:solidFill>
              <a:latin typeface="Calibri"/>
              <a:ea typeface="Calibri"/>
              <a:cs typeface="Calibri"/>
              <a:sym typeface="Calibri"/>
            </a:endParaRPr>
          </a:p>
        </p:txBody>
      </p:sp>
      <p:sp>
        <p:nvSpPr>
          <p:cNvPr id="189" name="Google Shape;189;p11"/>
          <p:cNvSpPr/>
          <p:nvPr/>
        </p:nvSpPr>
        <p:spPr>
          <a:xfrm>
            <a:off x="914400" y="4114800"/>
            <a:ext cx="466344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2272E"/>
              </a:buClr>
              <a:buSzPts val="1350"/>
              <a:buFont typeface="Calibri"/>
              <a:buNone/>
            </a:pPr>
            <a:r>
              <a:rPr lang="en-US" sz="1350" b="1" i="0" u="none" strike="noStrike" cap="none">
                <a:solidFill>
                  <a:srgbClr val="22272E"/>
                </a:solidFill>
                <a:latin typeface="Calibri"/>
                <a:ea typeface="Calibri"/>
                <a:cs typeface="Calibri"/>
                <a:sym typeface="Calibri"/>
              </a:rPr>
              <a:t>Guided notebooks, LSSR by hand</a:t>
            </a:r>
            <a:endParaRPr sz="13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22272E"/>
              </a:buClr>
              <a:buSzPts val="1350"/>
              <a:buFont typeface="Calibri"/>
              <a:buNone/>
            </a:pPr>
            <a:r>
              <a:rPr lang="en-US" sz="1350" b="0" i="0" u="none" strike="noStrike" cap="none">
                <a:solidFill>
                  <a:srgbClr val="22272E"/>
                </a:solidFill>
                <a:latin typeface="Calibri"/>
                <a:ea typeface="Calibri"/>
                <a:cs typeface="Calibri"/>
                <a:sym typeface="Calibri"/>
              </a:rPr>
              <a:t>Vandermonde + np.linalg.lstsq (SVD)</a:t>
            </a:r>
            <a:endParaRPr sz="13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5A6478"/>
              </a:buClr>
              <a:buSzPts val="1350"/>
              <a:buFont typeface="Calibri"/>
              <a:buNone/>
            </a:pPr>
            <a:r>
              <a:rPr lang="en-US" sz="1350" b="0" i="1" u="none" strike="noStrike" cap="none">
                <a:solidFill>
                  <a:srgbClr val="5A6478"/>
                </a:solidFill>
                <a:latin typeface="Calibri"/>
                <a:ea typeface="Calibri"/>
                <a:cs typeface="Calibri"/>
                <a:sym typeface="Calibri"/>
              </a:rPr>
              <a:t>Stages 1–3, threshold + refit</a:t>
            </a:r>
            <a:endParaRPr sz="1350" b="0" i="0" u="none" strike="noStrike" cap="none">
              <a:solidFill>
                <a:schemeClr val="dk1"/>
              </a:solidFill>
              <a:latin typeface="Calibri"/>
              <a:ea typeface="Calibri"/>
              <a:cs typeface="Calibri"/>
              <a:sym typeface="Calibri"/>
            </a:endParaRPr>
          </a:p>
        </p:txBody>
      </p:sp>
      <p:sp>
        <p:nvSpPr>
          <p:cNvPr id="190" name="Google Shape;190;p11"/>
          <p:cNvSpPr/>
          <p:nvPr/>
        </p:nvSpPr>
        <p:spPr>
          <a:xfrm>
            <a:off x="6263640" y="3108960"/>
            <a:ext cx="5349240" cy="2286000"/>
          </a:xfrm>
          <a:prstGeom prst="roundRect">
            <a:avLst>
              <a:gd name="adj" fmla="val 4800"/>
            </a:avLst>
          </a:prstGeom>
          <a:solidFill>
            <a:srgbClr val="FDF7EC"/>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6583680" y="3383280"/>
            <a:ext cx="548640" cy="548640"/>
          </a:xfrm>
          <a:prstGeom prst="ellipse">
            <a:avLst/>
          </a:prstGeom>
          <a:solidFill>
            <a:srgbClr val="F4A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a:off x="6583680" y="338328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mbria"/>
              <a:buNone/>
            </a:pPr>
            <a:r>
              <a:rPr lang="en-US" sz="2200" b="1" i="0" u="none" strike="noStrike" cap="none">
                <a:solidFill>
                  <a:srgbClr val="FFFFFF"/>
                </a:solidFill>
                <a:latin typeface="Cambria"/>
                <a:ea typeface="Cambria"/>
                <a:cs typeface="Cambria"/>
                <a:sym typeface="Cambria"/>
              </a:rPr>
              <a:t>M</a:t>
            </a:r>
            <a:endParaRPr sz="2200" b="0" i="0" u="none" strike="noStrike" cap="none">
              <a:solidFill>
                <a:schemeClr val="dk1"/>
              </a:solidFill>
              <a:latin typeface="Calibri"/>
              <a:ea typeface="Calibri"/>
              <a:cs typeface="Calibri"/>
              <a:sym typeface="Calibri"/>
            </a:endParaRPr>
          </a:p>
        </p:txBody>
      </p:sp>
      <p:sp>
        <p:nvSpPr>
          <p:cNvPr id="193" name="Google Shape;193;p11"/>
          <p:cNvSpPr/>
          <p:nvPr/>
        </p:nvSpPr>
        <p:spPr>
          <a:xfrm>
            <a:off x="7269480" y="3429000"/>
            <a:ext cx="41148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900"/>
              <a:buFont typeface="Cambria"/>
              <a:buNone/>
            </a:pPr>
            <a:r>
              <a:rPr lang="en-US" sz="1900" b="1" i="0" u="none" strike="noStrike" cap="none">
                <a:solidFill>
                  <a:srgbClr val="1F2A44"/>
                </a:solidFill>
                <a:latin typeface="Cambria"/>
                <a:ea typeface="Cambria"/>
                <a:cs typeface="Cambria"/>
                <a:sym typeface="Cambria"/>
              </a:rPr>
              <a:t>Mikhail</a:t>
            </a:r>
            <a:endParaRPr sz="1900" b="0" i="0" u="none" strike="noStrike" cap="none">
              <a:solidFill>
                <a:schemeClr val="dk1"/>
              </a:solidFill>
              <a:latin typeface="Calibri"/>
              <a:ea typeface="Calibri"/>
              <a:cs typeface="Calibri"/>
              <a:sym typeface="Calibri"/>
            </a:endParaRPr>
          </a:p>
        </p:txBody>
      </p:sp>
      <p:sp>
        <p:nvSpPr>
          <p:cNvPr id="194" name="Google Shape;194;p11"/>
          <p:cNvSpPr/>
          <p:nvPr/>
        </p:nvSpPr>
        <p:spPr>
          <a:xfrm>
            <a:off x="6629400" y="4114800"/>
            <a:ext cx="466344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2272E"/>
              </a:buClr>
              <a:buSzPts val="1350"/>
              <a:buFont typeface="Calibri"/>
              <a:buNone/>
            </a:pPr>
            <a:r>
              <a:rPr lang="en-US" sz="1350" b="1" i="0" u="none" strike="noStrike" cap="none">
                <a:solidFill>
                  <a:srgbClr val="22272E"/>
                </a:solidFill>
                <a:latin typeface="Calibri"/>
                <a:ea typeface="Calibri"/>
                <a:cs typeface="Calibri"/>
                <a:sym typeface="Calibri"/>
              </a:rPr>
              <a:t>learn_exp_afixed.py</a:t>
            </a:r>
            <a:endParaRPr sz="13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22272E"/>
              </a:buClr>
              <a:buSzPts val="1350"/>
              <a:buFont typeface="Calibri"/>
              <a:buNone/>
            </a:pPr>
            <a:r>
              <a:rPr lang="en-US" sz="1350" b="0" i="0" u="none" strike="noStrike" cap="none">
                <a:solidFill>
                  <a:srgbClr val="22272E"/>
                </a:solidFill>
                <a:latin typeface="Calibri"/>
                <a:ea typeface="Calibri"/>
                <a:cs typeface="Calibri"/>
                <a:sym typeface="Calibri"/>
              </a:rPr>
              <a:t>Normal eqns AND QR/SVD, BFGS refine</a:t>
            </a:r>
            <a:endParaRPr sz="135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5A6478"/>
              </a:buClr>
              <a:buSzPts val="1350"/>
              <a:buFont typeface="Calibri"/>
              <a:buNone/>
            </a:pPr>
            <a:r>
              <a:rPr lang="en-US" sz="1350" b="0" i="1" u="none" strike="noStrike" cap="none">
                <a:solidFill>
                  <a:srgbClr val="5A6478"/>
                </a:solidFill>
                <a:latin typeface="Calibri"/>
                <a:ea typeface="Calibri"/>
                <a:cs typeface="Calibri"/>
                <a:sym typeface="Calibri"/>
              </a:rPr>
              <a:t>a = 1 collapse, degree-11 t-series</a:t>
            </a:r>
            <a:endParaRPr sz="1350" b="0" i="0" u="none" strike="noStrike" cap="none">
              <a:solidFill>
                <a:schemeClr val="dk1"/>
              </a:solidFill>
              <a:latin typeface="Calibri"/>
              <a:ea typeface="Calibri"/>
              <a:cs typeface="Calibri"/>
              <a:sym typeface="Calibri"/>
            </a:endParaRPr>
          </a:p>
        </p:txBody>
      </p:sp>
      <p:sp>
        <p:nvSpPr>
          <p:cNvPr id="195" name="Google Shape;195;p11"/>
          <p:cNvSpPr/>
          <p:nvPr/>
        </p:nvSpPr>
        <p:spPr>
          <a:xfrm>
            <a:off x="548640" y="5669280"/>
            <a:ext cx="110642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400"/>
              <a:buFont typeface="Calibri"/>
              <a:buNone/>
            </a:pPr>
            <a:r>
              <a:rPr lang="en-US" sz="1400" b="1" i="1" u="none" strike="noStrike" cap="none">
                <a:solidFill>
                  <a:srgbClr val="1F2A44"/>
                </a:solidFill>
                <a:latin typeface="Calibri"/>
                <a:ea typeface="Calibri"/>
                <a:cs typeface="Calibri"/>
                <a:sym typeface="Calibri"/>
              </a:rPr>
              <a:t>Both independently converged on the stable SVD solve — the strongest possible validation.</a:t>
            </a:r>
            <a:endParaRPr sz="1400" b="0" i="0" u="none" strike="noStrike" cap="none">
              <a:solidFill>
                <a:schemeClr val="dk1"/>
              </a:solidFill>
              <a:latin typeface="Calibri"/>
              <a:ea typeface="Calibri"/>
              <a:cs typeface="Calibri"/>
              <a:sym typeface="Calibri"/>
            </a:endParaRPr>
          </a:p>
        </p:txBody>
      </p:sp>
      <p:sp>
        <p:nvSpPr>
          <p:cNvPr id="196" name="Google Shape;196;p11"/>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97" name="Google Shape;197;p11"/>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9</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p8"/>
          <p:cNvSpPr/>
          <p:nvPr/>
        </p:nvSpPr>
        <p:spPr>
          <a:xfrm>
            <a:off x="548640" y="457200"/>
            <a:ext cx="10058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300"/>
              </a:buClr>
              <a:buSzPts val="1300"/>
              <a:buFont typeface="Calibri"/>
              <a:buNone/>
            </a:pPr>
            <a:r>
              <a:rPr lang="en-US" sz="1300" b="1" i="0" u="none" strike="noStrike" cap="none">
                <a:solidFill>
                  <a:srgbClr val="F4A300"/>
                </a:solidFill>
                <a:latin typeface="Calibri"/>
                <a:ea typeface="Calibri"/>
                <a:cs typeface="Calibri"/>
                <a:sym typeface="Calibri"/>
              </a:rPr>
              <a:t>WHY IT GETS HARD</a:t>
            </a:r>
            <a:endParaRPr sz="1300" b="0" i="0" u="none" strike="noStrike" cap="none">
              <a:solidFill>
                <a:schemeClr val="dk1"/>
              </a:solidFill>
              <a:latin typeface="Calibri"/>
              <a:ea typeface="Calibri"/>
              <a:cs typeface="Calibri"/>
              <a:sym typeface="Calibri"/>
            </a:endParaRPr>
          </a:p>
        </p:txBody>
      </p:sp>
      <p:sp>
        <p:nvSpPr>
          <p:cNvPr id="131" name="Google Shape;131;p8"/>
          <p:cNvSpPr/>
          <p:nvPr/>
        </p:nvSpPr>
        <p:spPr>
          <a:xfrm>
            <a:off x="548640" y="749808"/>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2900"/>
              <a:buFont typeface="Cambria"/>
              <a:buNone/>
            </a:pPr>
            <a:r>
              <a:rPr lang="en-US" sz="2900" b="1" i="0" u="none" strike="noStrike" cap="none">
                <a:solidFill>
                  <a:srgbClr val="1F2A44"/>
                </a:solidFill>
                <a:latin typeface="Cambria"/>
                <a:ea typeface="Cambria"/>
                <a:cs typeface="Cambria"/>
                <a:sym typeface="Cambria"/>
              </a:rPr>
              <a:t>Three separate gremlins — only one is fixed by more data</a:t>
            </a:r>
            <a:endParaRPr sz="2900" b="0" i="0" u="none" strike="noStrike" cap="none">
              <a:solidFill>
                <a:schemeClr val="dk1"/>
              </a:solidFill>
              <a:latin typeface="Calibri"/>
              <a:ea typeface="Calibri"/>
              <a:cs typeface="Calibri"/>
              <a:sym typeface="Calibri"/>
            </a:endParaRPr>
          </a:p>
        </p:txBody>
      </p:sp>
      <p:sp>
        <p:nvSpPr>
          <p:cNvPr id="132" name="Google Shape;132;p8"/>
          <p:cNvSpPr/>
          <p:nvPr/>
        </p:nvSpPr>
        <p:spPr>
          <a:xfrm>
            <a:off x="548640" y="2286000"/>
            <a:ext cx="3520440" cy="3566160"/>
          </a:xfrm>
          <a:prstGeom prst="roundRect">
            <a:avLst>
              <a:gd name="adj" fmla="val 3117"/>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822960" y="2560320"/>
            <a:ext cx="502920" cy="502920"/>
          </a:xfrm>
          <a:prstGeom prst="ellipse">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822960" y="3200400"/>
            <a:ext cx="29718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800"/>
              <a:buFont typeface="Cambria"/>
              <a:buNone/>
            </a:pPr>
            <a:r>
              <a:rPr lang="en-US" sz="1800" b="1" i="0" u="none" strike="noStrike" cap="none">
                <a:solidFill>
                  <a:srgbClr val="1F2A44"/>
                </a:solidFill>
                <a:latin typeface="Cambria"/>
                <a:ea typeface="Cambria"/>
                <a:cs typeface="Cambria"/>
                <a:sym typeface="Cambria"/>
              </a:rPr>
              <a:t>Underdetermination - more u</a:t>
            </a:r>
            <a:r>
              <a:rPr lang="en-US" sz="1800" b="1">
                <a:solidFill>
                  <a:srgbClr val="1F2A44"/>
                </a:solidFill>
                <a:latin typeface="Cambria"/>
                <a:ea typeface="Cambria"/>
                <a:cs typeface="Cambria"/>
                <a:sym typeface="Cambria"/>
              </a:rPr>
              <a:t>nknowns than equations</a:t>
            </a:r>
            <a:endParaRPr sz="1800" b="0" i="0" u="none" strike="noStrike" cap="none">
              <a:solidFill>
                <a:schemeClr val="dk1"/>
              </a:solidFill>
              <a:latin typeface="Calibri"/>
              <a:ea typeface="Calibri"/>
              <a:cs typeface="Calibri"/>
              <a:sym typeface="Calibri"/>
            </a:endParaRPr>
          </a:p>
        </p:txBody>
      </p:sp>
      <p:sp>
        <p:nvSpPr>
          <p:cNvPr id="135" name="Google Shape;135;p8"/>
          <p:cNvSpPr/>
          <p:nvPr/>
        </p:nvSpPr>
        <p:spPr>
          <a:xfrm>
            <a:off x="822960" y="3886200"/>
            <a:ext cx="2971800" cy="100584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2272E"/>
              </a:buClr>
              <a:buSzPts val="1400"/>
              <a:buFont typeface="Calibri"/>
              <a:buNone/>
            </a:pPr>
            <a:r>
              <a:rPr lang="en-US" sz="1400" b="0" i="0" u="none" strike="noStrike" cap="none">
                <a:solidFill>
                  <a:srgbClr val="22272E"/>
                </a:solidFill>
                <a:latin typeface="Calibri"/>
                <a:ea typeface="Calibri"/>
                <a:cs typeface="Calibri"/>
                <a:sym typeface="Calibri"/>
              </a:rPr>
              <a:t>Fewer equations than unknowns → no unique solution.</a:t>
            </a:r>
            <a:endParaRPr sz="1400" b="0" i="0" u="none" strike="noStrike" cap="none">
              <a:solidFill>
                <a:schemeClr val="dk1"/>
              </a:solidFill>
              <a:latin typeface="Calibri"/>
              <a:ea typeface="Calibri"/>
              <a:cs typeface="Calibri"/>
              <a:sym typeface="Calibri"/>
            </a:endParaRPr>
          </a:p>
        </p:txBody>
      </p:sp>
      <p:sp>
        <p:nvSpPr>
          <p:cNvPr id="136" name="Google Shape;136;p8"/>
          <p:cNvSpPr/>
          <p:nvPr/>
        </p:nvSpPr>
        <p:spPr>
          <a:xfrm>
            <a:off x="822960" y="5074920"/>
            <a:ext cx="297180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2A9D8F"/>
              </a:buClr>
              <a:buSzPts val="1350"/>
              <a:buFont typeface="Calibri"/>
              <a:buNone/>
            </a:pPr>
            <a:r>
              <a:rPr lang="en-US" sz="1350" b="1" i="0" u="none" strike="noStrike" cap="none">
                <a:solidFill>
                  <a:srgbClr val="2A9D8F"/>
                </a:solidFill>
                <a:latin typeface="Calibri"/>
                <a:ea typeface="Calibri"/>
                <a:cs typeface="Calibri"/>
                <a:sym typeface="Calibri"/>
              </a:rPr>
              <a:t>Fix: enough samples — but it saturates fast (~30–100).</a:t>
            </a:r>
            <a:endParaRPr sz="1350" b="0" i="0" u="none" strike="noStrike" cap="none">
              <a:solidFill>
                <a:schemeClr val="dk1"/>
              </a:solidFill>
              <a:latin typeface="Calibri"/>
              <a:ea typeface="Calibri"/>
              <a:cs typeface="Calibri"/>
              <a:sym typeface="Calibri"/>
            </a:endParaRPr>
          </a:p>
        </p:txBody>
      </p:sp>
      <p:sp>
        <p:nvSpPr>
          <p:cNvPr id="137" name="Google Shape;137;p8"/>
          <p:cNvSpPr/>
          <p:nvPr/>
        </p:nvSpPr>
        <p:spPr>
          <a:xfrm>
            <a:off x="4251960" y="2286000"/>
            <a:ext cx="3520440" cy="3566160"/>
          </a:xfrm>
          <a:prstGeom prst="roundRect">
            <a:avLst>
              <a:gd name="adj" fmla="val 3117"/>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4526280" y="2560320"/>
            <a:ext cx="502920" cy="502920"/>
          </a:xfrm>
          <a:prstGeom prst="ellipse">
            <a:avLst/>
          </a:prstGeom>
          <a:solidFill>
            <a:srgbClr val="F4A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4526280" y="3200400"/>
            <a:ext cx="29718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800"/>
              <a:buFont typeface="Cambria"/>
              <a:buNone/>
            </a:pPr>
            <a:r>
              <a:rPr lang="en-US" sz="1800" b="1" i="0" u="none" strike="noStrike" cap="none">
                <a:solidFill>
                  <a:srgbClr val="1F2A44"/>
                </a:solidFill>
                <a:latin typeface="Cambria"/>
                <a:ea typeface="Cambria"/>
                <a:cs typeface="Cambria"/>
                <a:sym typeface="Cambria"/>
              </a:rPr>
              <a:t>Truncation</a:t>
            </a:r>
            <a:endParaRPr sz="1800" b="0" i="0" u="none" strike="noStrike" cap="none">
              <a:solidFill>
                <a:schemeClr val="dk1"/>
              </a:solidFill>
              <a:latin typeface="Calibri"/>
              <a:ea typeface="Calibri"/>
              <a:cs typeface="Calibri"/>
              <a:sym typeface="Calibri"/>
            </a:endParaRPr>
          </a:p>
        </p:txBody>
      </p:sp>
      <p:sp>
        <p:nvSpPr>
          <p:cNvPr id="140" name="Google Shape;140;p8"/>
          <p:cNvSpPr/>
          <p:nvPr/>
        </p:nvSpPr>
        <p:spPr>
          <a:xfrm>
            <a:off x="4526280" y="3886200"/>
            <a:ext cx="2971800" cy="100584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2272E"/>
              </a:buClr>
              <a:buSzPts val="1400"/>
              <a:buFont typeface="Calibri"/>
              <a:buNone/>
            </a:pPr>
            <a:r>
              <a:rPr lang="en-US" sz="1400" b="0" i="0" u="none" strike="noStrike" cap="none">
                <a:solidFill>
                  <a:srgbClr val="22272E"/>
                </a:solidFill>
                <a:latin typeface="Calibri"/>
                <a:ea typeface="Calibri"/>
                <a:cs typeface="Calibri"/>
                <a:sym typeface="Calibri"/>
              </a:rPr>
              <a:t>Infinite series in a finite basis distorts top terms.</a:t>
            </a:r>
            <a:endParaRPr sz="1400" b="0" i="0" u="none" strike="noStrike" cap="none">
              <a:solidFill>
                <a:schemeClr val="dk1"/>
              </a:solidFill>
              <a:latin typeface="Calibri"/>
              <a:ea typeface="Calibri"/>
              <a:cs typeface="Calibri"/>
              <a:sym typeface="Calibri"/>
            </a:endParaRPr>
          </a:p>
        </p:txBody>
      </p:sp>
      <p:sp>
        <p:nvSpPr>
          <p:cNvPr id="141" name="Google Shape;141;p8"/>
          <p:cNvSpPr/>
          <p:nvPr/>
        </p:nvSpPr>
        <p:spPr>
          <a:xfrm>
            <a:off x="4526280" y="5074920"/>
            <a:ext cx="297180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F4A300"/>
              </a:buClr>
              <a:buSzPts val="1350"/>
              <a:buFont typeface="Calibri"/>
              <a:buNone/>
            </a:pPr>
            <a:r>
              <a:rPr lang="en-US" sz="1350" b="1" i="0" u="none" strike="noStrike" cap="none">
                <a:solidFill>
                  <a:srgbClr val="F4A300"/>
                </a:solidFill>
                <a:latin typeface="Calibri"/>
                <a:ea typeface="Calibri"/>
                <a:cs typeface="Calibri"/>
                <a:sym typeface="Calibri"/>
              </a:rPr>
              <a:t>Fix: raise degree, shrink window.</a:t>
            </a:r>
            <a:endParaRPr sz="1350" b="0" i="0" u="none" strike="noStrike" cap="none">
              <a:solidFill>
                <a:schemeClr val="dk1"/>
              </a:solidFill>
              <a:latin typeface="Calibri"/>
              <a:ea typeface="Calibri"/>
              <a:cs typeface="Calibri"/>
              <a:sym typeface="Calibri"/>
            </a:endParaRPr>
          </a:p>
        </p:txBody>
      </p:sp>
      <p:sp>
        <p:nvSpPr>
          <p:cNvPr id="142" name="Google Shape;142;p8"/>
          <p:cNvSpPr/>
          <p:nvPr/>
        </p:nvSpPr>
        <p:spPr>
          <a:xfrm>
            <a:off x="7955280" y="2286000"/>
            <a:ext cx="3520440" cy="3566160"/>
          </a:xfrm>
          <a:prstGeom prst="roundRect">
            <a:avLst>
              <a:gd name="adj" fmla="val 3117"/>
            </a:avLst>
          </a:prstGeom>
          <a:solidFill>
            <a:srgbClr val="FFFFFF"/>
          </a:solidFill>
          <a:ln w="12700" cap="flat" cmpd="sng">
            <a:solidFill>
              <a:srgbClr val="E2E8F0"/>
            </a:solidFill>
            <a:prstDash val="solid"/>
            <a:round/>
            <a:headEnd type="none" w="sm" len="sm"/>
            <a:tailEnd type="none" w="sm" len="sm"/>
          </a:ln>
          <a:effectLst>
            <a:outerShdw blurRad="88900" dist="38100" dir="5400000" algn="bl" rotWithShape="0">
              <a:srgbClr val="000000">
                <a:alpha val="1294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8229600" y="2560320"/>
            <a:ext cx="502920" cy="50292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8229600" y="3200400"/>
            <a:ext cx="29718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44"/>
              </a:buClr>
              <a:buSzPts val="1800"/>
              <a:buFont typeface="Cambria"/>
              <a:buNone/>
            </a:pPr>
            <a:r>
              <a:rPr lang="en-US" sz="1800" b="1" i="0" u="none" strike="noStrike" cap="none">
                <a:solidFill>
                  <a:srgbClr val="1F2A44"/>
                </a:solidFill>
                <a:latin typeface="Cambria"/>
                <a:ea typeface="Cambria"/>
                <a:cs typeface="Cambria"/>
                <a:sym typeface="Cambria"/>
              </a:rPr>
              <a:t>Collinearity</a:t>
            </a:r>
            <a:endParaRPr sz="1800" b="0" i="0" u="none" strike="noStrike" cap="none">
              <a:solidFill>
                <a:schemeClr val="dk1"/>
              </a:solidFill>
              <a:latin typeface="Calibri"/>
              <a:ea typeface="Calibri"/>
              <a:cs typeface="Calibri"/>
              <a:sym typeface="Calibri"/>
            </a:endParaRPr>
          </a:p>
        </p:txBody>
      </p:sp>
      <p:sp>
        <p:nvSpPr>
          <p:cNvPr id="145" name="Google Shape;145;p8"/>
          <p:cNvSpPr/>
          <p:nvPr/>
        </p:nvSpPr>
        <p:spPr>
          <a:xfrm>
            <a:off x="8229600" y="3886200"/>
            <a:ext cx="2971800" cy="100584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2272E"/>
              </a:buClr>
              <a:buSzPts val="1400"/>
              <a:buFont typeface="Calibri"/>
              <a:buNone/>
            </a:pPr>
            <a:r>
              <a:rPr lang="en-US" sz="1400" b="0" i="0" u="none" strike="noStrike" cap="none">
                <a:solidFill>
                  <a:srgbClr val="22272E"/>
                </a:solidFill>
                <a:latin typeface="Calibri"/>
                <a:ea typeface="Calibri"/>
                <a:cs typeface="Calibri"/>
                <a:sym typeface="Calibri"/>
              </a:rPr>
              <a:t>Columns too alike → weight smears chaotically.</a:t>
            </a:r>
            <a:endParaRPr sz="1400" b="0" i="0" u="none" strike="noStrike" cap="none">
              <a:solidFill>
                <a:schemeClr val="dk1"/>
              </a:solidFill>
              <a:latin typeface="Calibri"/>
              <a:ea typeface="Calibri"/>
              <a:cs typeface="Calibri"/>
              <a:sym typeface="Calibri"/>
            </a:endParaRPr>
          </a:p>
        </p:txBody>
      </p:sp>
      <p:sp>
        <p:nvSpPr>
          <p:cNvPr id="146" name="Google Shape;146;p8"/>
          <p:cNvSpPr/>
          <p:nvPr/>
        </p:nvSpPr>
        <p:spPr>
          <a:xfrm>
            <a:off x="8229600" y="5074920"/>
            <a:ext cx="2971800" cy="64008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E76F51"/>
              </a:buClr>
              <a:buSzPts val="1350"/>
              <a:buFont typeface="Calibri"/>
              <a:buNone/>
            </a:pPr>
            <a:r>
              <a:rPr lang="en-US" sz="1350" b="1" i="0" u="none" strike="noStrike" cap="none">
                <a:solidFill>
                  <a:srgbClr val="E76F51"/>
                </a:solidFill>
                <a:latin typeface="Calibri"/>
                <a:ea typeface="Calibri"/>
                <a:cs typeface="Calibri"/>
                <a:sym typeface="Calibri"/>
              </a:rPr>
              <a:t>Fix: sparsify — NOT more data.</a:t>
            </a:r>
            <a:endParaRPr sz="1350" b="0" i="0" u="none" strike="noStrike" cap="none">
              <a:solidFill>
                <a:schemeClr val="dk1"/>
              </a:solidFill>
              <a:latin typeface="Calibri"/>
              <a:ea typeface="Calibri"/>
              <a:cs typeface="Calibri"/>
              <a:sym typeface="Calibri"/>
            </a:endParaRPr>
          </a:p>
        </p:txBody>
      </p:sp>
      <p:sp>
        <p:nvSpPr>
          <p:cNvPr id="147" name="Google Shape;147;p8"/>
          <p:cNvSpPr/>
          <p:nvPr/>
        </p:nvSpPr>
        <p:spPr>
          <a:xfrm>
            <a:off x="457200" y="64465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Learning Mathematics Through the Machine  ·  LSSR pipeline</a:t>
            </a:r>
            <a:endParaRPr sz="900" b="0" i="0" u="none" strike="noStrike" cap="none">
              <a:solidFill>
                <a:schemeClr val="dk1"/>
              </a:solidFill>
              <a:latin typeface="Calibri"/>
              <a:ea typeface="Calibri"/>
              <a:cs typeface="Calibri"/>
              <a:sym typeface="Calibri"/>
            </a:endParaRPr>
          </a:p>
        </p:txBody>
      </p:sp>
      <p:sp>
        <p:nvSpPr>
          <p:cNvPr id="148" name="Google Shape;148;p8"/>
          <p:cNvSpPr/>
          <p:nvPr/>
        </p:nvSpPr>
        <p:spPr>
          <a:xfrm>
            <a:off x="11430000" y="6446520"/>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6478"/>
              </a:buClr>
              <a:buSzPts val="900"/>
              <a:buFont typeface="Calibri"/>
              <a:buNone/>
            </a:pPr>
            <a:r>
              <a:rPr lang="en-US" sz="900" b="0" i="0" u="none" strike="noStrike" cap="none">
                <a:solidFill>
                  <a:srgbClr val="5A6478"/>
                </a:solidFill>
                <a:latin typeface="Calibri"/>
                <a:ea typeface="Calibri"/>
                <a:cs typeface="Calibri"/>
                <a:sym typeface="Calibri"/>
              </a:rPr>
              <a:t>8</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r>
              <a:rPr lang="en-US" sz="1300" b="1">
                <a:solidFill>
                  <a:srgbClr val="F2A33C"/>
                </a:solidFill>
                <a:latin typeface="Calibri"/>
              </a:rPr>
              <a:t>WHAT WE LEARNED</a:t>
            </a:r>
          </a:p>
        </p:txBody>
      </p:sp>
      <p:sp>
        <p:nvSpPr>
          <p:cNvPr id="3" name="title"/>
          <p:cNvSpPr>
            <a:spLocks noGrp="1"/>
          </p:cNvSpPr>
          <p:nvPr/>
        </p:nvSpPr>
        <p:spPr>
          <a:xfrm>
            <a:off x="640080" y="800000"/>
            <a:ext cx="10911840" cy="640000"/>
          </a:xfrm>
          <a:prstGeom prst="rect">
            <a:avLst/>
          </a:prstGeom>
        </p:spPr>
        <p:txBody>
          <a:bodyPr wrap="square" lIns="0" tIns="0" rIns="0" bIns="0"/>
          <a:lstStyle/>
          <a:p>
            <a:r>
              <a:rPr lang="en-US" sz="3200" b="1">
                <a:solidFill>
                  <a:srgbClr val="FFFFFF"/>
                </a:solidFill>
                <a:latin typeface="Cambria"/>
              </a:rPr>
              <a:t>Eleven conclusions at a glance</a:t>
            </a:r>
          </a:p>
        </p:txBody>
      </p:sp>
      <p:sp>
        <p:nvSpPr>
          <p:cNvPr id="10" name="c1h"/>
          <p:cNvSpPr>
            <a:spLocks noGrp="1"/>
          </p:cNvSpPr>
          <p:nvPr/>
        </p:nvSpPr>
        <p:spPr>
          <a:xfrm>
            <a:off x="640080" y="1680000"/>
            <a:ext cx="3500000" cy="360000"/>
          </a:xfrm>
          <a:prstGeom prst="rect">
            <a:avLst/>
          </a:prstGeom>
        </p:spPr>
        <p:txBody>
          <a:bodyPr wrap="square" lIns="0" tIns="0" rIns="0" bIns="0"/>
          <a:lstStyle/>
          <a:p>
            <a:r>
              <a:rPr lang="en-US" sz="1600" b="1">
                <a:solidFill>
                  <a:srgbClr val="2CA0B4"/>
                </a:solidFill>
                <a:latin typeface="Cambria"/>
              </a:rPr>
              <a:t>What the method does</a:t>
            </a:r>
          </a:p>
        </p:txBody>
      </p:sp>
      <p:sp>
        <p:nvSpPr>
          <p:cNvPr id="11" name="c1b"/>
          <p:cNvSpPr>
            <a:spLocks noGrp="1"/>
          </p:cNvSpPr>
          <p:nvPr/>
        </p:nvSpPr>
        <p:spPr>
          <a:xfrm>
            <a:off x="640080" y="2120000"/>
            <a:ext cx="3520000" cy="4000000"/>
          </a:xfrm>
          <a:prstGeom prst="rect">
            <a:avLst/>
          </a:prstGeom>
        </p:spPr>
        <p:txBody>
          <a:bodyPr wrap="square" lIns="0" tIns="0" rIns="0" bIns="0"/>
          <a:lstStyle/>
          <a:p>
            <a:pPr>
              <a:spcAft>
                <a:spcPts val="800"/>
              </a:spcAft>
            </a:pPr>
            <a:r>
              <a:rPr lang="en-US" sz="1200" b="1">
                <a:solidFill>
                  <a:srgbClr val="FFFFFF"/>
                </a:solidFill>
                <a:latin typeface="Calibri"/>
              </a:rPr>
              <a:t>1 · </a:t>
            </a:r>
            <a:r>
              <a:rPr lang="en-US" sz="1200">
                <a:solidFill>
                  <a:srgbClr val="D7DEEA"/>
                </a:solidFill>
                <a:latin typeface="Calibri"/>
              </a:rPr>
              <a:t>Finite basis recovers an infinite series only up to truncation.</a:t>
            </a:r>
          </a:p>
          <a:p>
            <a:pPr>
              <a:spcAft>
                <a:spcPts val="800"/>
              </a:spcAft>
            </a:pPr>
            <a:r>
              <a:rPr lang="en-US" sz="1200" b="1">
                <a:solidFill>
                  <a:srgbClr val="FFFFFF"/>
                </a:solidFill>
                <a:latin typeface="Calibri"/>
              </a:rPr>
              <a:t>4 · </a:t>
            </a:r>
            <a:r>
              <a:rPr lang="en-US" sz="1200">
                <a:solidFill>
                  <a:srgbClr val="D7DEEA"/>
                </a:solidFill>
                <a:latin typeface="Calibri"/>
              </a:rPr>
              <a:t>Not obvious in the circle problem — its truth had no tail.</a:t>
            </a:r>
          </a:p>
          <a:p>
            <a:pPr>
              <a:spcAft>
                <a:spcPts val="800"/>
              </a:spcAft>
            </a:pPr>
            <a:r>
              <a:rPr lang="en-US" sz="1200" b="1">
                <a:solidFill>
                  <a:srgbClr val="FFFFFF"/>
                </a:solidFill>
                <a:latin typeface="Calibri"/>
              </a:rPr>
              <a:t>9 · </a:t>
            </a:r>
            <a:r>
              <a:rPr lang="en-US" sz="1200">
                <a:solidFill>
                  <a:srgbClr val="D7DEEA"/>
                </a:solidFill>
                <a:latin typeface="Calibri"/>
              </a:rPr>
              <a:t>More data saturates by ~30–100 samples.</a:t>
            </a:r>
          </a:p>
        </p:txBody>
      </p:sp>
      <p:sp>
        <p:nvSpPr>
          <p:cNvPr id="20" name="c2h"/>
          <p:cNvSpPr>
            <a:spLocks noGrp="1"/>
          </p:cNvSpPr>
          <p:nvPr/>
        </p:nvSpPr>
        <p:spPr>
          <a:xfrm>
            <a:off x="4440080" y="1680000"/>
            <a:ext cx="3500000" cy="360000"/>
          </a:xfrm>
          <a:prstGeom prst="rect">
            <a:avLst/>
          </a:prstGeom>
        </p:spPr>
        <p:txBody>
          <a:bodyPr wrap="square" lIns="0" tIns="0" rIns="0" bIns="0"/>
          <a:lstStyle/>
          <a:p>
            <a:r>
              <a:rPr lang="en-US" sz="1600" b="1">
                <a:solidFill>
                  <a:srgbClr val="7CC96B"/>
                </a:solidFill>
                <a:latin typeface="Cambria"/>
              </a:rPr>
              <a:t>The two knobs</a:t>
            </a:r>
          </a:p>
        </p:txBody>
      </p:sp>
      <p:sp>
        <p:nvSpPr>
          <p:cNvPr id="21" name="c2b"/>
          <p:cNvSpPr>
            <a:spLocks noGrp="1"/>
          </p:cNvSpPr>
          <p:nvPr/>
        </p:nvSpPr>
        <p:spPr>
          <a:xfrm>
            <a:off x="4440080" y="2120000"/>
            <a:ext cx="3520000" cy="4000000"/>
          </a:xfrm>
          <a:prstGeom prst="rect">
            <a:avLst/>
          </a:prstGeom>
        </p:spPr>
        <p:txBody>
          <a:bodyPr wrap="square" lIns="0" tIns="0" rIns="0" bIns="0"/>
          <a:lstStyle/>
          <a:p>
            <a:pPr>
              <a:spcAft>
                <a:spcPts val="800"/>
              </a:spcAft>
            </a:pPr>
            <a:r>
              <a:rPr lang="en-US" sz="1200" b="1">
                <a:solidFill>
                  <a:srgbClr val="FFFFFF"/>
                </a:solidFill>
                <a:latin typeface="Calibri"/>
              </a:rPr>
              <a:t>2 · </a:t>
            </a:r>
            <a:r>
              <a:rPr lang="en-US" sz="1200">
                <a:solidFill>
                  <a:srgbClr val="D7DEEA"/>
                </a:solidFill>
                <a:latin typeface="Calibri"/>
              </a:rPr>
              <a:t>The highest kept coefficient is least accurate.</a:t>
            </a:r>
          </a:p>
          <a:p>
            <a:pPr>
              <a:spcAft>
                <a:spcPts val="800"/>
              </a:spcAft>
            </a:pPr>
            <a:r>
              <a:rPr lang="en-US" sz="1200" b="1">
                <a:solidFill>
                  <a:srgbClr val="FFFFFF"/>
                </a:solidFill>
                <a:latin typeface="Calibri"/>
              </a:rPr>
              <a:t>3 · </a:t>
            </a:r>
            <a:r>
              <a:rPr lang="en-US" sz="1200">
                <a:solidFill>
                  <a:srgbClr val="D7DEEA"/>
                </a:solidFill>
                <a:latin typeface="Calibri"/>
              </a:rPr>
              <a:t>Degree and window are coupled — move them together.</a:t>
            </a:r>
          </a:p>
          <a:p>
            <a:pPr>
              <a:spcAft>
                <a:spcPts val="800"/>
              </a:spcAft>
            </a:pPr>
            <a:r>
              <a:rPr lang="en-US" sz="1200" b="1">
                <a:solidFill>
                  <a:srgbClr val="FFFFFF"/>
                </a:solidFill>
                <a:latin typeface="Calibri"/>
              </a:rPr>
              <a:t>5 · </a:t>
            </a:r>
            <a:r>
              <a:rPr lang="en-US" sz="1200">
                <a:solidFill>
                  <a:srgbClr val="D7DEEA"/>
                </a:solidFill>
                <a:latin typeface="Calibri"/>
              </a:rPr>
              <a:t>Narrow window starves high-order terms.</a:t>
            </a:r>
          </a:p>
          <a:p>
            <a:pPr>
              <a:spcAft>
                <a:spcPts val="800"/>
              </a:spcAft>
            </a:pPr>
            <a:r>
              <a:rPr lang="en-US" sz="1200" b="1">
                <a:solidFill>
                  <a:srgbClr val="FFFFFF"/>
                </a:solidFill>
                <a:latin typeface="Calibri"/>
              </a:rPr>
              <a:t>6 · </a:t>
            </a:r>
            <a:r>
              <a:rPr lang="en-US" sz="1200">
                <a:solidFill>
                  <a:srgbClr val="D7DEEA"/>
                </a:solidFill>
                <a:latin typeface="Calibri"/>
              </a:rPr>
              <a:t>Wide window + low degree → tail explodes.</a:t>
            </a:r>
          </a:p>
          <a:p>
            <a:pPr>
              <a:spcAft>
                <a:spcPts val="800"/>
              </a:spcAft>
            </a:pPr>
            <a:r>
              <a:rPr lang="en-US" sz="1200" b="1">
                <a:solidFill>
                  <a:srgbClr val="FFFFFF"/>
                </a:solidFill>
                <a:latin typeface="Calibri"/>
              </a:rPr>
              <a:t>7 · </a:t>
            </a:r>
            <a:r>
              <a:rPr lang="en-US" sz="1200">
                <a:solidFill>
                  <a:srgbClr val="D7DEEA"/>
                </a:solidFill>
                <a:latin typeface="Calibri"/>
              </a:rPr>
              <a:t>Narrow window + high degree → best recovery.</a:t>
            </a:r>
          </a:p>
        </p:txBody>
      </p:sp>
      <p:sp>
        <p:nvSpPr>
          <p:cNvPr id="30" name="c3h"/>
          <p:cNvSpPr>
            <a:spLocks noGrp="1"/>
          </p:cNvSpPr>
          <p:nvPr/>
        </p:nvSpPr>
        <p:spPr>
          <a:xfrm>
            <a:off x="8240080" y="1680000"/>
            <a:ext cx="3600000" cy="360000"/>
          </a:xfrm>
          <a:prstGeom prst="rect">
            <a:avLst/>
          </a:prstGeom>
        </p:spPr>
        <p:txBody>
          <a:bodyPr wrap="square" lIns="0" tIns="0" rIns="0" bIns="0"/>
          <a:lstStyle/>
          <a:p>
            <a:r>
              <a:rPr lang="en-US" sz="1600" b="1">
                <a:solidFill>
                  <a:srgbClr val="F2A33C"/>
                </a:solidFill>
                <a:latin typeface="Cambria"/>
              </a:rPr>
              <a:t>Hidden failure modes</a:t>
            </a:r>
          </a:p>
        </p:txBody>
      </p:sp>
      <p:sp>
        <p:nvSpPr>
          <p:cNvPr id="31" name="c3b"/>
          <p:cNvSpPr>
            <a:spLocks noGrp="1"/>
          </p:cNvSpPr>
          <p:nvPr/>
        </p:nvSpPr>
        <p:spPr>
          <a:xfrm>
            <a:off x="8240080" y="2120000"/>
            <a:ext cx="3600000" cy="4000000"/>
          </a:xfrm>
          <a:prstGeom prst="rect">
            <a:avLst/>
          </a:prstGeom>
        </p:spPr>
        <p:txBody>
          <a:bodyPr wrap="square" lIns="0" tIns="0" rIns="0" bIns="0"/>
          <a:lstStyle/>
          <a:p>
            <a:pPr>
              <a:spcAft>
                <a:spcPts val="800"/>
              </a:spcAft>
            </a:pPr>
            <a:r>
              <a:rPr lang="en-US" sz="1200" b="1">
                <a:solidFill>
                  <a:srgbClr val="FFFFFF"/>
                </a:solidFill>
                <a:latin typeface="Calibri"/>
              </a:rPr>
              <a:t>8 · </a:t>
            </a:r>
            <a:r>
              <a:rPr lang="en-US" sz="1200">
                <a:solidFill>
                  <a:srgbClr val="D7DEEA"/>
                </a:solidFill>
                <a:latin typeface="Calibri"/>
              </a:rPr>
              <a:t>Conditioning is separate from truncation; QR/SVD ~9 orders better than normal eqns.</a:t>
            </a:r>
          </a:p>
          <a:p>
            <a:pPr>
              <a:spcAft>
                <a:spcPts val="800"/>
              </a:spcAft>
            </a:pPr>
            <a:r>
              <a:rPr lang="en-US" sz="1200" b="1">
                <a:solidFill>
                  <a:srgbClr val="FFFFFF"/>
                </a:solidFill>
                <a:latin typeface="Calibri"/>
              </a:rPr>
              <a:t>10 · </a:t>
            </a:r>
            <a:r>
              <a:rPr lang="en-US" sz="1200">
                <a:solidFill>
                  <a:srgbClr val="D7DEEA"/>
                </a:solidFill>
                <a:latin typeface="Calibri"/>
              </a:rPr>
              <a:t>Fixed 10% threshold kills small true coefficients; loosening it disables sparsify.</a:t>
            </a:r>
          </a:p>
          <a:p>
            <a:pPr>
              <a:spcAft>
                <a:spcPts val="800"/>
              </a:spcAft>
            </a:pPr>
            <a:r>
              <a:rPr lang="en-US" sz="1200" b="1">
                <a:solidFill>
                  <a:srgbClr val="FFFFFF"/>
                </a:solidFill>
                <a:latin typeface="Calibri"/>
              </a:rPr>
              <a:t>11 · </a:t>
            </a:r>
            <a:r>
              <a:rPr lang="en-US" sz="1200">
                <a:solidFill>
                  <a:srgbClr val="D7DEEA"/>
                </a:solidFill>
                <a:latin typeface="Calibri"/>
              </a:rPr>
              <a:t>Vector (a=1) beats matrix: fewer unknowns, no leakage, ~10⁸× better conditioned.</a:t>
            </a:r>
          </a:p>
        </p:txBody>
      </p:sp>
      <p:sp>
        <p:nvSpPr>
          <p:cNvPr id="40" name="footer"/>
          <p:cNvSpPr>
            <a:spLocks noGrp="1"/>
          </p:cNvSpPr>
          <p:nvPr/>
        </p:nvSpPr>
        <p:spPr>
          <a:xfrm>
            <a:off x="640080" y="6450000"/>
            <a:ext cx="10911840" cy="300000"/>
          </a:xfrm>
          <a:prstGeom prst="rect">
            <a:avLst/>
          </a:prstGeom>
        </p:spPr>
        <p:txBody>
          <a:bodyPr wrap="square" lIns="0" tIns="0" rIns="0" bIns="0"/>
          <a:lstStyle/>
          <a:p>
            <a:r>
              <a:rPr lang="en-US" sz="1000">
                <a:solidFill>
                  <a:srgbClr val="8A93A6"/>
                </a:solidFill>
                <a:latin typeface="Calibri"/>
              </a:rPr>
              <a:t>Rainne &amp; Mikhail   ·   the five slides that follow unpack each theme</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pPr>
              <a:spcAft>
                <a:spcPts val="0"/>
              </a:spcAft>
            </a:pPr>
            <a:r>
              <a:rPr lang="en-US" sz="1300" b="1">
                <a:solidFill>
                  <a:srgbClr val="F2A33C"/>
                </a:solidFill>
                <a:latin typeface="Calibri"/>
              </a:rPr>
              <a:t>CONCLUSIONS · 1 of 5</a:t>
            </a:r>
          </a:p>
        </p:txBody>
      </p:sp>
      <p:sp>
        <p:nvSpPr>
          <p:cNvPr id="3" name="title"/>
          <p:cNvSpPr>
            <a:spLocks noGrp="1"/>
          </p:cNvSpPr>
          <p:nvPr/>
        </p:nvSpPr>
        <p:spPr>
          <a:xfrm>
            <a:off x="640080" y="800000"/>
            <a:ext cx="10911840" cy="760000"/>
          </a:xfrm>
          <a:prstGeom prst="rect">
            <a:avLst/>
          </a:prstGeom>
        </p:spPr>
        <p:txBody>
          <a:bodyPr wrap="square" lIns="0" tIns="0" rIns="0" bIns="0"/>
          <a:lstStyle/>
          <a:p>
            <a:pPr>
              <a:spcAft>
                <a:spcPts val="0"/>
              </a:spcAft>
            </a:pPr>
            <a:r>
              <a:rPr lang="en-US" sz="3000" b="1">
                <a:solidFill>
                  <a:srgbClr val="FFFFFF"/>
                </a:solidFill>
                <a:latin typeface="Calibri"/>
              </a:rPr>
              <a:t>Truncation: a finite basis can't hold an infinite series</a:t>
            </a:r>
          </a:p>
        </p:txBody>
      </p:sp>
      <p:sp>
        <p:nvSpPr>
          <p:cNvPr id="4" name="body"/>
          <p:cNvSpPr>
            <a:spLocks noGrp="1"/>
          </p:cNvSpPr>
          <p:nvPr/>
        </p:nvSpPr>
        <p:spPr>
          <a:xfrm>
            <a:off x="640080" y="1820000"/>
            <a:ext cx="5000000" cy="4300000"/>
          </a:xfrm>
          <a:prstGeom prst="rect">
            <a:avLst/>
          </a:prstGeom>
        </p:spPr>
        <p:txBody>
          <a:bodyPr wrap="square" lIns="0" tIns="0" rIns="0" bIns="0"/>
          <a:lstStyle/>
          <a:p>
            <a:pPr>
              <a:spcAft>
                <a:spcPts val="300"/>
              </a:spcAft>
            </a:pPr>
            <a:r>
              <a:rPr lang="en-US" sz="1300">
                <a:solidFill>
                  <a:srgbClr val="D7DEEA"/>
                </a:solidFill>
                <a:latin typeface="Calibri"/>
              </a:rPr>
              <a:t>The target is a Maclaurin series:</a:t>
            </a:r>
          </a:p>
          <a:p>
            <a:pPr>
              <a:spcAft>
                <a:spcPts val="700"/>
              </a:spcAft>
            </a:pPr>
            <a:r>
              <a:rPr lang="en-US" sz="1500" b="1">
                <a:solidFill>
                  <a:srgbClr val="2CA0B4"/>
                </a:solidFill>
                <a:latin typeface="Calibri"/>
              </a:rPr>
              <a:t>eᵗ = Σ tⁿ/n!  (n = 0 … ∞)</a:t>
            </a:r>
          </a:p>
          <a:p>
            <a:pPr>
              <a:spcAft>
                <a:spcPts val="300"/>
              </a:spcAft>
            </a:pPr>
            <a:r>
              <a:rPr lang="en-US" sz="1300">
                <a:solidFill>
                  <a:srgbClr val="D7DEEA"/>
                </a:solidFill>
                <a:latin typeface="Calibri"/>
              </a:rPr>
              <a:t>A degree-N fit keeps only the first N+1 terms. The discarded tail is</a:t>
            </a:r>
          </a:p>
          <a:p>
            <a:pPr>
              <a:spcAft>
                <a:spcPts val="700"/>
              </a:spcAft>
            </a:pPr>
            <a:r>
              <a:rPr lang="en-US" sz="1400" b="1">
                <a:solidFill>
                  <a:srgbClr val="7CC96B"/>
                </a:solidFill>
                <a:latin typeface="Calibri"/>
              </a:rPr>
              <a:t>eᵗ − P_N(t) = Σ tⁿ/n!  (n = N+1 … ∞)</a:t>
            </a:r>
          </a:p>
          <a:p>
            <a:pPr>
              <a:spcAft>
                <a:spcPts val="600"/>
              </a:spcAft>
            </a:pPr>
            <a:r>
              <a:rPr lang="en-US" sz="1300" b="1">
                <a:solidFill>
                  <a:srgbClr val="FFFFFF"/>
                </a:solidFill>
                <a:latin typeface="Calibri"/>
              </a:rPr>
              <a:t>①  </a:t>
            </a:r>
            <a:r>
              <a:rPr lang="en-US" sz="1300">
                <a:solidFill>
                  <a:srgbClr val="D7DEEA"/>
                </a:solidFill>
                <a:latin typeface="Calibri"/>
              </a:rPr>
              <a:t>LSSR recovers finite polynomials exactly, but an infinite series only up to this tail.</a:t>
            </a:r>
          </a:p>
          <a:p>
            <a:pPr>
              <a:spcAft>
                <a:spcPts val="600"/>
              </a:spcAft>
            </a:pPr>
            <a:r>
              <a:rPr lang="en-US" sz="1300" b="1">
                <a:solidFill>
                  <a:srgbClr val="FFFFFF"/>
                </a:solidFill>
                <a:latin typeface="Calibri"/>
              </a:rPr>
              <a:t>②  </a:t>
            </a:r>
            <a:r>
              <a:rPr lang="en-US" sz="1300">
                <a:solidFill>
                  <a:srgbClr val="D7DEEA"/>
                </a:solidFill>
                <a:latin typeface="Calibri"/>
              </a:rPr>
              <a:t>The highest kept coefficient is least accurate — it absorbs the unrepresented tail.</a:t>
            </a:r>
          </a:p>
          <a:p>
            <a:pPr>
              <a:spcAft>
                <a:spcPts val="0"/>
              </a:spcAft>
            </a:pPr>
            <a:r>
              <a:rPr lang="en-US" sz="1300" b="1">
                <a:solidFill>
                  <a:srgbClr val="FFFFFF"/>
                </a:solidFill>
                <a:latin typeface="Calibri"/>
              </a:rPr>
              <a:t>④  </a:t>
            </a:r>
            <a:r>
              <a:rPr lang="en-US" sz="1300">
                <a:solidFill>
                  <a:srgbClr val="D7DEEA"/>
                </a:solidFill>
                <a:latin typeface="Calibri"/>
              </a:rPr>
              <a:t>This wasn't obvious in the circle problem: its truth was an exact degree-2 polynomial, so the tail was zero.</a:t>
            </a:r>
          </a:p>
        </p:txBody>
      </p:sp>
      <p:pic>
        <p:nvPicPr>
          <p:cNvPr id="20" name="graph"/>
          <p:cNvPicPr>
            <a:picLocks noChangeAspect="1"/>
          </p:cNvPicPr>
          <p:nvPr/>
        </p:nvPicPr>
        <p:blipFill>
          <a:blip r:embed="rId2"/>
          <a:stretch>
            <a:fillRect/>
          </a:stretch>
        </p:blipFill>
        <p:spPr>
          <a:xfrm>
            <a:off x="5900000" y="1868378"/>
            <a:ext cx="5640000" cy="3963243"/>
          </a:xfrm>
          <a:prstGeom prst="rect">
            <a:avLst/>
          </a:prstGeom>
        </p:spPr>
      </p:pic>
      <p:sp>
        <p:nvSpPr>
          <p:cNvPr id="40" name="footer"/>
          <p:cNvSpPr>
            <a:spLocks noGrp="1"/>
          </p:cNvSpPr>
          <p:nvPr/>
        </p:nvSpPr>
        <p:spPr>
          <a:xfrm>
            <a:off x="640080" y="6450000"/>
            <a:ext cx="10911840" cy="300000"/>
          </a:xfrm>
          <a:prstGeom prst="rect">
            <a:avLst/>
          </a:prstGeom>
        </p:spPr>
        <p:txBody>
          <a:bodyPr wrap="square" lIns="0" tIns="0" rIns="0" bIns="0"/>
          <a:lstStyle/>
          <a:p>
            <a:pPr>
              <a:spcAft>
                <a:spcPts val="0"/>
              </a:spcAft>
            </a:pPr>
            <a:r>
              <a:rPr lang="en-US" sz="1000">
                <a:solidFill>
                  <a:srgbClr val="8A93A6"/>
                </a:solidFill>
                <a:latin typeface="Calibri"/>
              </a:rPr>
              <a:t>Rainne &amp; Mikhail   ·   Learning Mathematics Through the Machine</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pPr>
              <a:spcAft>
                <a:spcPts val="0"/>
              </a:spcAft>
            </a:pPr>
            <a:r>
              <a:rPr lang="en-US" sz="1300" b="1">
                <a:solidFill>
                  <a:srgbClr val="F2A33C"/>
                </a:solidFill>
                <a:latin typeface="Calibri"/>
              </a:rPr>
              <a:t>CONCLUSIONS · 2 of 5</a:t>
            </a:r>
          </a:p>
        </p:txBody>
      </p:sp>
      <p:sp>
        <p:nvSpPr>
          <p:cNvPr id="3" name="title"/>
          <p:cNvSpPr>
            <a:spLocks noGrp="1"/>
          </p:cNvSpPr>
          <p:nvPr/>
        </p:nvSpPr>
        <p:spPr>
          <a:xfrm>
            <a:off x="640080" y="800000"/>
            <a:ext cx="10911840" cy="760000"/>
          </a:xfrm>
          <a:prstGeom prst="rect">
            <a:avLst/>
          </a:prstGeom>
        </p:spPr>
        <p:txBody>
          <a:bodyPr wrap="square" lIns="0" tIns="0" rIns="0" bIns="0"/>
          <a:lstStyle/>
          <a:p>
            <a:pPr>
              <a:spcAft>
                <a:spcPts val="0"/>
              </a:spcAft>
            </a:pPr>
            <a:r>
              <a:rPr lang="en-US" sz="3000" b="1">
                <a:solidFill>
                  <a:srgbClr val="FFFFFF"/>
                </a:solidFill>
                <a:latin typeface="Calibri"/>
              </a:rPr>
              <a:t>Two knobs: degree and window must move together</a:t>
            </a:r>
          </a:p>
        </p:txBody>
      </p:sp>
      <p:sp>
        <p:nvSpPr>
          <p:cNvPr id="4" name="body"/>
          <p:cNvSpPr>
            <a:spLocks noGrp="1"/>
          </p:cNvSpPr>
          <p:nvPr/>
        </p:nvSpPr>
        <p:spPr>
          <a:xfrm>
            <a:off x="640080" y="1820000"/>
            <a:ext cx="5000000" cy="4300000"/>
          </a:xfrm>
          <a:prstGeom prst="rect">
            <a:avLst/>
          </a:prstGeom>
        </p:spPr>
        <p:txBody>
          <a:bodyPr wrap="square" lIns="0" tIns="0" rIns="0" bIns="0"/>
          <a:lstStyle/>
          <a:p>
            <a:pPr>
              <a:spcAft>
                <a:spcPts val="300"/>
              </a:spcAft>
            </a:pPr>
            <a:r>
              <a:rPr lang="en-US" sz="1300">
                <a:solidFill>
                  <a:srgbClr val="D7DEEA"/>
                </a:solidFill>
                <a:latin typeface="Calibri"/>
              </a:rPr>
              <a:t>The first dropped term sets the error floor:</a:t>
            </a:r>
          </a:p>
          <a:p>
            <a:pPr>
              <a:spcAft>
                <a:spcPts val="700"/>
              </a:spcAft>
            </a:pPr>
            <a:r>
              <a:rPr lang="en-US" sz="1500" b="1">
                <a:solidFill>
                  <a:srgbClr val="F2A33C"/>
                </a:solidFill>
                <a:latin typeface="Calibri"/>
              </a:rPr>
              <a:t>|tail|  ≈  T_max^(N+1) / (N+1)!</a:t>
            </a:r>
          </a:p>
          <a:p>
            <a:pPr>
              <a:spcAft>
                <a:spcPts val="550"/>
              </a:spcAft>
            </a:pPr>
            <a:r>
              <a:rPr lang="en-US" sz="1300" b="1">
                <a:solidFill>
                  <a:srgbClr val="FFFFFF"/>
                </a:solidFill>
                <a:latin typeface="Calibri"/>
              </a:rPr>
              <a:t>③  </a:t>
            </a:r>
            <a:r>
              <a:rPr lang="en-US" sz="1300">
                <a:solidFill>
                  <a:srgbClr val="D7DEEA"/>
                </a:solidFill>
                <a:latin typeface="Calibri"/>
              </a:rPr>
              <a:t>Keep this term below your target accuracy — degree N and window T_max are coupled.</a:t>
            </a:r>
          </a:p>
          <a:p>
            <a:pPr>
              <a:spcAft>
                <a:spcPts val="550"/>
              </a:spcAft>
            </a:pPr>
            <a:r>
              <a:rPr lang="en-US" sz="1300" b="1">
                <a:solidFill>
                  <a:srgbClr val="FFFFFF"/>
                </a:solidFill>
                <a:latin typeface="Calibri"/>
              </a:rPr>
              <a:t>⑤  </a:t>
            </a:r>
            <a:r>
              <a:rPr lang="en-US" sz="1300">
                <a:solidFill>
                  <a:srgbClr val="D7DEEA"/>
                </a:solidFill>
                <a:latin typeface="Calibri"/>
              </a:rPr>
              <a:t>Narrow window → high-order terms starve: tⁿ is tiny for t &lt; 1, so there's little signal.</a:t>
            </a:r>
          </a:p>
          <a:p>
            <a:pPr>
              <a:spcAft>
                <a:spcPts val="550"/>
              </a:spcAft>
            </a:pPr>
            <a:r>
              <a:rPr lang="en-US" sz="1300" b="1">
                <a:solidFill>
                  <a:srgbClr val="FFFFFF"/>
                </a:solidFill>
                <a:latin typeface="Calibri"/>
              </a:rPr>
              <a:t>⑥  </a:t>
            </a:r>
            <a:r>
              <a:rPr lang="en-US" sz="1300">
                <a:solidFill>
                  <a:srgbClr val="D7DEEA"/>
                </a:solidFill>
                <a:latin typeface="Calibri"/>
              </a:rPr>
              <a:t>Wide window + low degree → the tail T_max^(N+1)/(N+1)! explodes.</a:t>
            </a:r>
          </a:p>
          <a:p>
            <a:pPr>
              <a:spcAft>
                <a:spcPts val="0"/>
              </a:spcAft>
            </a:pPr>
            <a:r>
              <a:rPr lang="en-US" sz="1300" b="1">
                <a:solidFill>
                  <a:srgbClr val="FFFFFF"/>
                </a:solidFill>
                <a:latin typeface="Calibri"/>
              </a:rPr>
              <a:t>⑦  </a:t>
            </a:r>
            <a:r>
              <a:rPr lang="en-US" sz="1300">
                <a:solidFill>
                  <a:srgbClr val="D7DEEA"/>
                </a:solidFill>
                <a:latin typeface="Calibri"/>
              </a:rPr>
              <a:t>Narrow window + high degree → tail → 0: best recovery.</a:t>
            </a:r>
          </a:p>
        </p:txBody>
      </p:sp>
      <p:pic>
        <p:nvPicPr>
          <p:cNvPr id="20" name="graph"/>
          <p:cNvPicPr>
            <a:picLocks noChangeAspect="1"/>
          </p:cNvPicPr>
          <p:nvPr/>
        </p:nvPicPr>
        <p:blipFill>
          <a:blip r:embed="rId2"/>
          <a:stretch>
            <a:fillRect/>
          </a:stretch>
        </p:blipFill>
        <p:spPr>
          <a:xfrm>
            <a:off x="5900000" y="1868378"/>
            <a:ext cx="5640000" cy="3963243"/>
          </a:xfrm>
          <a:prstGeom prst="rect">
            <a:avLst/>
          </a:prstGeom>
        </p:spPr>
      </p:pic>
      <p:sp>
        <p:nvSpPr>
          <p:cNvPr id="40" name="footer"/>
          <p:cNvSpPr>
            <a:spLocks noGrp="1"/>
          </p:cNvSpPr>
          <p:nvPr/>
        </p:nvSpPr>
        <p:spPr>
          <a:xfrm>
            <a:off x="640080" y="6450000"/>
            <a:ext cx="10911840" cy="300000"/>
          </a:xfrm>
          <a:prstGeom prst="rect">
            <a:avLst/>
          </a:prstGeom>
        </p:spPr>
        <p:txBody>
          <a:bodyPr wrap="square" lIns="0" tIns="0" rIns="0" bIns="0"/>
          <a:lstStyle/>
          <a:p>
            <a:pPr>
              <a:spcAft>
                <a:spcPts val="0"/>
              </a:spcAft>
            </a:pPr>
            <a:r>
              <a:rPr lang="en-US" sz="1000">
                <a:solidFill>
                  <a:srgbClr val="8A93A6"/>
                </a:solidFill>
                <a:latin typeface="Calibri"/>
              </a:rPr>
              <a:t>Rainne &amp; Mikhail   ·   Learning Mathematics Through the Machine</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pPr>
              <a:spcAft>
                <a:spcPts val="0"/>
              </a:spcAft>
            </a:pPr>
            <a:r>
              <a:rPr lang="en-US" sz="1300" b="1">
                <a:solidFill>
                  <a:srgbClr val="F2A33C"/>
                </a:solidFill>
                <a:latin typeface="Calibri"/>
              </a:rPr>
              <a:t>CONCLUSIONS · 3 of 5</a:t>
            </a:r>
          </a:p>
        </p:txBody>
      </p:sp>
      <p:sp>
        <p:nvSpPr>
          <p:cNvPr id="3" name="title"/>
          <p:cNvSpPr>
            <a:spLocks noGrp="1"/>
          </p:cNvSpPr>
          <p:nvPr/>
        </p:nvSpPr>
        <p:spPr>
          <a:xfrm>
            <a:off x="640080" y="800000"/>
            <a:ext cx="10911840" cy="760000"/>
          </a:xfrm>
          <a:prstGeom prst="rect">
            <a:avLst/>
          </a:prstGeom>
        </p:spPr>
        <p:txBody>
          <a:bodyPr wrap="square" lIns="0" tIns="0" rIns="0" bIns="0"/>
          <a:lstStyle/>
          <a:p>
            <a:pPr>
              <a:spcAft>
                <a:spcPts val="0"/>
              </a:spcAft>
            </a:pPr>
            <a:r>
              <a:rPr lang="en-US" sz="3000" b="1">
                <a:solidFill>
                  <a:srgbClr val="FFFFFF"/>
                </a:solidFill>
                <a:latin typeface="Calibri"/>
              </a:rPr>
              <a:t>Conditioning: a failure mode separate from truncation</a:t>
            </a:r>
          </a:p>
        </p:txBody>
      </p:sp>
      <p:sp>
        <p:nvSpPr>
          <p:cNvPr id="4" name="body"/>
          <p:cNvSpPr>
            <a:spLocks noGrp="1"/>
          </p:cNvSpPr>
          <p:nvPr/>
        </p:nvSpPr>
        <p:spPr>
          <a:xfrm>
            <a:off x="640080" y="1820000"/>
            <a:ext cx="5000000" cy="4300000"/>
          </a:xfrm>
          <a:prstGeom prst="rect">
            <a:avLst/>
          </a:prstGeom>
        </p:spPr>
        <p:txBody>
          <a:bodyPr wrap="square" lIns="0" tIns="0" rIns="0" bIns="0"/>
          <a:lstStyle/>
          <a:p>
            <a:pPr>
              <a:spcAft>
                <a:spcPts val="300"/>
              </a:spcAft>
            </a:pPr>
            <a:r>
              <a:rPr lang="en-US" sz="1300">
                <a:solidFill>
                  <a:srgbClr val="D7DEEA"/>
                </a:solidFill>
                <a:latin typeface="Calibri"/>
              </a:rPr>
              <a:t>Normal equations square the condition number:</a:t>
            </a:r>
          </a:p>
          <a:p>
            <a:pPr>
              <a:spcAft>
                <a:spcPts val="700"/>
              </a:spcAft>
            </a:pPr>
            <a:r>
              <a:rPr lang="en-US" sz="1500" b="1">
                <a:solidFill>
                  <a:srgbClr val="E05A47"/>
                </a:solidFill>
                <a:latin typeface="Calibri"/>
              </a:rPr>
              <a:t>cond(DᵀD) ≈ cond(D)²</a:t>
            </a:r>
          </a:p>
          <a:p>
            <a:pPr>
              <a:spcAft>
                <a:spcPts val="700"/>
              </a:spcAft>
            </a:pPr>
            <a:r>
              <a:rPr lang="en-US" sz="1300">
                <a:solidFill>
                  <a:srgbClr val="D7DEEA"/>
                </a:solidFill>
                <a:latin typeface="Calibri"/>
              </a:rPr>
              <a:t>QR/SVD solves Dc = b directly, never forming DᵀD, so it keeps cond(D) intact.</a:t>
            </a:r>
          </a:p>
          <a:p>
            <a:pPr>
              <a:spcAft>
                <a:spcPts val="550"/>
              </a:spcAft>
            </a:pPr>
            <a:r>
              <a:rPr lang="en-US" sz="1300" b="1">
                <a:solidFill>
                  <a:srgbClr val="FFFFFF"/>
                </a:solidFill>
                <a:latin typeface="Calibri"/>
              </a:rPr>
              <a:t>⑧  </a:t>
            </a:r>
            <a:r>
              <a:rPr lang="en-US" sz="1300">
                <a:solidFill>
                  <a:srgbClr val="D7DEEA"/>
                </a:solidFill>
                <a:latin typeface="Calibri"/>
              </a:rPr>
              <a:t>Truncation is a property of the math; conditioning is a property of the solve. They stack at high degree.</a:t>
            </a:r>
          </a:p>
          <a:p>
            <a:pPr>
              <a:spcAft>
                <a:spcPts val="0"/>
              </a:spcAft>
            </a:pPr>
            <a:r>
              <a:rPr lang="en-US" sz="1300">
                <a:solidFill>
                  <a:srgbClr val="D7DEEA"/>
                </a:solidFill>
                <a:latin typeface="Calibri"/>
              </a:rPr>
              <a:t>At degree 11, same data: normal eqns give error ≈ 40, QR/SVD ≈ 1.2×10⁻⁷ — about 9 orders apart.</a:t>
            </a:r>
          </a:p>
        </p:txBody>
      </p:sp>
      <p:pic>
        <p:nvPicPr>
          <p:cNvPr id="20" name="graph"/>
          <p:cNvPicPr>
            <a:picLocks noChangeAspect="1"/>
          </p:cNvPicPr>
          <p:nvPr/>
        </p:nvPicPr>
        <p:blipFill>
          <a:blip r:embed="rId2"/>
          <a:stretch>
            <a:fillRect/>
          </a:stretch>
        </p:blipFill>
        <p:spPr>
          <a:xfrm>
            <a:off x="5900000" y="1868378"/>
            <a:ext cx="5640000" cy="3963243"/>
          </a:xfrm>
          <a:prstGeom prst="rect">
            <a:avLst/>
          </a:prstGeom>
        </p:spPr>
      </p:pic>
      <p:sp>
        <p:nvSpPr>
          <p:cNvPr id="40" name="footer"/>
          <p:cNvSpPr>
            <a:spLocks noGrp="1"/>
          </p:cNvSpPr>
          <p:nvPr/>
        </p:nvSpPr>
        <p:spPr>
          <a:xfrm>
            <a:off x="640080" y="6450000"/>
            <a:ext cx="10911840" cy="300000"/>
          </a:xfrm>
          <a:prstGeom prst="rect">
            <a:avLst/>
          </a:prstGeom>
        </p:spPr>
        <p:txBody>
          <a:bodyPr wrap="square" lIns="0" tIns="0" rIns="0" bIns="0"/>
          <a:lstStyle/>
          <a:p>
            <a:pPr>
              <a:spcAft>
                <a:spcPts val="0"/>
              </a:spcAft>
            </a:pPr>
            <a:r>
              <a:rPr lang="en-US" sz="1000">
                <a:solidFill>
                  <a:srgbClr val="8A93A6"/>
                </a:solidFill>
                <a:latin typeface="Calibri"/>
              </a:rPr>
              <a:t>Rainne &amp; Mikhail   ·   Learning Mathematics Through the Machine</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pPr>
              <a:spcAft>
                <a:spcPts val="0"/>
              </a:spcAft>
            </a:pPr>
            <a:r>
              <a:rPr lang="en-US" sz="1300" b="1">
                <a:solidFill>
                  <a:srgbClr val="F2A33C"/>
                </a:solidFill>
                <a:latin typeface="Calibri"/>
              </a:rPr>
              <a:t>CONCLUSIONS · 4 of 5</a:t>
            </a:r>
          </a:p>
        </p:txBody>
      </p:sp>
      <p:sp>
        <p:nvSpPr>
          <p:cNvPr id="3" name="title"/>
          <p:cNvSpPr>
            <a:spLocks noGrp="1"/>
          </p:cNvSpPr>
          <p:nvPr/>
        </p:nvSpPr>
        <p:spPr>
          <a:xfrm>
            <a:off x="640080" y="800000"/>
            <a:ext cx="10911840" cy="760000"/>
          </a:xfrm>
          <a:prstGeom prst="rect">
            <a:avLst/>
          </a:prstGeom>
        </p:spPr>
        <p:txBody>
          <a:bodyPr wrap="square" lIns="0" tIns="0" rIns="0" bIns="0"/>
          <a:lstStyle/>
          <a:p>
            <a:pPr>
              <a:spcAft>
                <a:spcPts val="0"/>
              </a:spcAft>
            </a:pPr>
            <a:r>
              <a:rPr lang="en-US" sz="3000" b="1">
                <a:solidFill>
                  <a:srgbClr val="FFFFFF"/>
                </a:solidFill>
                <a:latin typeface="Calibri"/>
              </a:rPr>
              <a:t>Threshold vs. starvation: when sparsify backfires</a:t>
            </a:r>
          </a:p>
        </p:txBody>
      </p:sp>
      <p:sp>
        <p:nvSpPr>
          <p:cNvPr id="4" name="body"/>
          <p:cNvSpPr>
            <a:spLocks noGrp="1"/>
          </p:cNvSpPr>
          <p:nvPr/>
        </p:nvSpPr>
        <p:spPr>
          <a:xfrm>
            <a:off x="640080" y="1820000"/>
            <a:ext cx="5000000" cy="4300000"/>
          </a:xfrm>
          <a:prstGeom prst="rect">
            <a:avLst/>
          </a:prstGeom>
        </p:spPr>
        <p:txBody>
          <a:bodyPr wrap="square" lIns="0" tIns="0" rIns="0" bIns="0"/>
          <a:lstStyle/>
          <a:p>
            <a:pPr>
              <a:spcAft>
                <a:spcPts val="300"/>
              </a:spcAft>
            </a:pPr>
            <a:r>
              <a:rPr lang="en-US" sz="1300">
                <a:solidFill>
                  <a:srgbClr val="D7DEEA"/>
                </a:solidFill>
                <a:latin typeface="Calibri"/>
              </a:rPr>
              <a:t>The true coefficients span many orders:</a:t>
            </a:r>
          </a:p>
          <a:p>
            <a:pPr>
              <a:spcAft>
                <a:spcPts val="700"/>
              </a:spcAft>
            </a:pPr>
            <a:r>
              <a:rPr lang="en-US" sz="1450" b="1">
                <a:solidFill>
                  <a:srgbClr val="2CA0B4"/>
                </a:solidFill>
                <a:latin typeface="Calibri"/>
              </a:rPr>
              <a:t>1, 1, ½, … , 1/11! ≈ 2.5×10⁻⁸</a:t>
            </a:r>
          </a:p>
          <a:p>
            <a:pPr>
              <a:spcAft>
                <a:spcPts val="700"/>
              </a:spcAft>
            </a:pPr>
            <a:r>
              <a:rPr lang="en-US" sz="1300">
                <a:solidFill>
                  <a:srgbClr val="D7DEEA"/>
                </a:solidFill>
                <a:latin typeface="Calibri"/>
              </a:rPr>
              <a:t>The paper's rule zeros any |cⱼ| &lt; ε, with ε = max/10 = 0.1.</a:t>
            </a:r>
          </a:p>
          <a:p>
            <a:pPr>
              <a:spcAft>
                <a:spcPts val="550"/>
              </a:spcAft>
            </a:pPr>
            <a:r>
              <a:rPr lang="en-US" sz="1300" b="1">
                <a:solidFill>
                  <a:srgbClr val="FFFFFF"/>
                </a:solidFill>
                <a:latin typeface="Calibri"/>
              </a:rPr>
              <a:t>⑩  </a:t>
            </a:r>
            <a:r>
              <a:rPr lang="en-US" sz="1300">
                <a:solidFill>
                  <a:srgbClr val="D7DEEA"/>
                </a:solidFill>
                <a:latin typeface="Calibri"/>
              </a:rPr>
              <a:t>That threshold annihilates every true coefficient past 1/3! — they look like noise to a relative cutoff.</a:t>
            </a:r>
          </a:p>
          <a:p>
            <a:pPr>
              <a:spcAft>
                <a:spcPts val="0"/>
              </a:spcAft>
            </a:pPr>
            <a:r>
              <a:rPr lang="en-US" sz="1300">
                <a:solidFill>
                  <a:srgbClr val="D7DEEA"/>
                </a:solidFill>
                <a:latin typeface="Calibri"/>
              </a:rPr>
              <a:t>Loosening ε to keep them recovers all 12 — but then nothing is sparsified, so LSSR collapses to LS + refine.</a:t>
            </a:r>
          </a:p>
        </p:txBody>
      </p:sp>
      <p:pic>
        <p:nvPicPr>
          <p:cNvPr id="20" name="graph"/>
          <p:cNvPicPr>
            <a:picLocks noChangeAspect="1"/>
          </p:cNvPicPr>
          <p:nvPr/>
        </p:nvPicPr>
        <p:blipFill>
          <a:blip r:embed="rId2"/>
          <a:stretch>
            <a:fillRect/>
          </a:stretch>
        </p:blipFill>
        <p:spPr>
          <a:xfrm>
            <a:off x="5900000" y="1868378"/>
            <a:ext cx="5640000" cy="3963243"/>
          </a:xfrm>
          <a:prstGeom prst="rect">
            <a:avLst/>
          </a:prstGeom>
        </p:spPr>
      </p:pic>
      <p:sp>
        <p:nvSpPr>
          <p:cNvPr id="40" name="footer"/>
          <p:cNvSpPr>
            <a:spLocks noGrp="1"/>
          </p:cNvSpPr>
          <p:nvPr/>
        </p:nvSpPr>
        <p:spPr>
          <a:xfrm>
            <a:off x="640080" y="6450000"/>
            <a:ext cx="10911840" cy="300000"/>
          </a:xfrm>
          <a:prstGeom prst="rect">
            <a:avLst/>
          </a:prstGeom>
        </p:spPr>
        <p:txBody>
          <a:bodyPr wrap="square" lIns="0" tIns="0" rIns="0" bIns="0"/>
          <a:lstStyle/>
          <a:p>
            <a:pPr>
              <a:spcAft>
                <a:spcPts val="0"/>
              </a:spcAft>
            </a:pPr>
            <a:r>
              <a:rPr lang="en-US" sz="1000">
                <a:solidFill>
                  <a:srgbClr val="8A93A6"/>
                </a:solidFill>
                <a:latin typeface="Calibri"/>
              </a:rPr>
              <a:t>Rainne &amp; Mikhail   ·   Learning Mathematics Through the Machine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12192000" cy="6858000"/>
          <a:chOff x="0" y="0"/>
          <a:chExt cx="12192000" cy="6858000"/>
        </a:xfrm>
      </p:grpSpPr>
      <p:sp>
        <p:nvSpPr>
          <p:cNvPr id="2" name="eyebrow"/>
          <p:cNvSpPr>
            <a:spLocks noGrp="1"/>
          </p:cNvSpPr>
          <p:nvPr/>
        </p:nvSpPr>
        <p:spPr>
          <a:xfrm>
            <a:off x="640080" y="430000"/>
            <a:ext cx="10911840" cy="350000"/>
          </a:xfrm>
          <a:prstGeom prst="rect">
            <a:avLst/>
          </a:prstGeom>
        </p:spPr>
        <p:txBody>
          <a:bodyPr wrap="square" lIns="0" tIns="0" rIns="0" bIns="0"/>
          <a:lstStyle/>
          <a:p>
            <a:pPr>
              <a:spcAft>
                <a:spcPts val="0"/>
              </a:spcAft>
            </a:pPr>
            <a:r>
              <a:rPr lang="en-US" sz="1300" b="1">
                <a:solidFill>
                  <a:srgbClr val="F2A33C"/>
                </a:solidFill>
                <a:latin typeface="Calibri"/>
              </a:rPr>
              <a:t>CONCLUSIONS · 5 of 5</a:t>
            </a:r>
          </a:p>
        </p:txBody>
      </p:sp>
      <p:sp>
        <p:nvSpPr>
          <p:cNvPr id="3" name="title"/>
          <p:cNvSpPr>
            <a:spLocks noGrp="1"/>
          </p:cNvSpPr>
          <p:nvPr/>
        </p:nvSpPr>
        <p:spPr>
          <a:xfrm>
            <a:off x="640080" y="800000"/>
            <a:ext cx="10911840" cy="760000"/>
          </a:xfrm>
          <a:prstGeom prst="rect">
            <a:avLst/>
          </a:prstGeom>
        </p:spPr>
        <p:txBody>
          <a:bodyPr wrap="square" lIns="0" tIns="0" rIns="0" bIns="0"/>
          <a:lstStyle/>
          <a:p>
            <a:pPr>
              <a:spcAft>
                <a:spcPts val="0"/>
              </a:spcAft>
            </a:pPr>
            <a:r>
              <a:rPr lang="en-US" sz="3000" b="1">
                <a:solidFill>
                  <a:srgbClr val="FFFFFF"/>
                </a:solidFill>
                <a:latin typeface="Calibri"/>
              </a:rPr>
              <a:t>Dimensionality: a vector beats a matrix</a:t>
            </a:r>
          </a:p>
        </p:txBody>
      </p:sp>
      <p:sp>
        <p:nvSpPr>
          <p:cNvPr id="4" name="body"/>
          <p:cNvSpPr>
            <a:spLocks noGrp="1"/>
          </p:cNvSpPr>
          <p:nvPr/>
        </p:nvSpPr>
        <p:spPr>
          <a:xfrm>
            <a:off x="640080" y="1820000"/>
            <a:ext cx="5000000" cy="4300000"/>
          </a:xfrm>
          <a:prstGeom prst="rect">
            <a:avLst/>
          </a:prstGeom>
        </p:spPr>
        <p:txBody>
          <a:bodyPr wrap="square" lIns="0" tIns="0" rIns="0" bIns="0"/>
          <a:lstStyle/>
          <a:p>
            <a:pPr>
              <a:spcAft>
                <a:spcPts val="300"/>
              </a:spcAft>
            </a:pPr>
            <a:r>
              <a:rPr lang="en-US" sz="1300">
                <a:solidFill>
                  <a:srgbClr val="D7DEEA"/>
                </a:solidFill>
                <a:latin typeface="Calibri"/>
              </a:rPr>
              <a:t>Fixing a = 1 reduces the unknowns:</a:t>
            </a:r>
          </a:p>
          <a:p>
            <a:pPr>
              <a:spcAft>
                <a:spcPts val="700"/>
              </a:spcAft>
            </a:pPr>
            <a:r>
              <a:rPr lang="en-US" sz="1400" b="1">
                <a:solidFill>
                  <a:srgbClr val="7CC96B"/>
                </a:solidFill>
                <a:latin typeface="Calibri"/>
              </a:rPr>
              <a:t>(M+1)(N+1) matrix  →  (N+1) vector</a:t>
            </a:r>
          </a:p>
          <a:p>
            <a:pPr>
              <a:spcAft>
                <a:spcPts val="550"/>
              </a:spcAft>
            </a:pPr>
            <a:r>
              <a:rPr lang="en-US" sz="1300" b="1">
                <a:solidFill>
                  <a:srgbClr val="FFFFFF"/>
                </a:solidFill>
                <a:latin typeface="Calibri"/>
              </a:rPr>
              <a:t>⑪  </a:t>
            </a:r>
            <a:r>
              <a:rPr lang="en-US" sz="1300">
                <a:solidFill>
                  <a:srgbClr val="D7DEEA"/>
                </a:solidFill>
                <a:latin typeface="Calibri"/>
              </a:rPr>
              <a:t>The vector form wins three ways: fewer unknowns, no all-zero off-diagonal block to absorb error, and a far better-conditioned design matrix.</a:t>
            </a:r>
          </a:p>
          <a:p>
            <a:pPr>
              <a:spcAft>
                <a:spcPts val="550"/>
              </a:spcAft>
            </a:pPr>
            <a:r>
              <a:rPr lang="en-US" sz="1300" b="1">
                <a:solidFill>
                  <a:srgbClr val="FFFFFF"/>
                </a:solidFill>
                <a:latin typeface="Calibri"/>
              </a:rPr>
              <a:t>⑨  </a:t>
            </a:r>
            <a:r>
              <a:rPr lang="en-US" sz="1300">
                <a:solidFill>
                  <a:srgbClr val="D7DEEA"/>
                </a:solidFill>
                <a:latin typeface="Calibri"/>
              </a:rPr>
              <a:t>More data saturates: accuracy floors out by ~30–100 samples; extra samples are wasted compute.</a:t>
            </a:r>
          </a:p>
          <a:p>
            <a:pPr>
              <a:spcAft>
                <a:spcPts val="0"/>
              </a:spcAft>
            </a:pPr>
            <a:r>
              <a:rPr lang="en-US" sz="1300">
                <a:solidFill>
                  <a:srgbClr val="D7DEEA"/>
                </a:solidFill>
                <a:latin typeface="Calibri"/>
              </a:rPr>
              <a:t>Caveat: the matrix form solves the harder, more general problem — it discovers that a and t enter only as the product at.</a:t>
            </a:r>
          </a:p>
        </p:txBody>
      </p:sp>
      <p:pic>
        <p:nvPicPr>
          <p:cNvPr id="20" name="graph"/>
          <p:cNvPicPr>
            <a:picLocks noChangeAspect="1"/>
          </p:cNvPicPr>
          <p:nvPr/>
        </p:nvPicPr>
        <p:blipFill>
          <a:blip r:embed="rId2"/>
          <a:stretch>
            <a:fillRect/>
          </a:stretch>
        </p:blipFill>
        <p:spPr>
          <a:xfrm>
            <a:off x="5900000" y="2557500"/>
            <a:ext cx="5640000" cy="2585000"/>
          </a:xfrm>
          <a:prstGeom prst="rect">
            <a:avLst/>
          </a:prstGeom>
        </p:spPr>
      </p:pic>
      <p:sp>
        <p:nvSpPr>
          <p:cNvPr id="40" name="footer"/>
          <p:cNvSpPr>
            <a:spLocks noGrp="1"/>
          </p:cNvSpPr>
          <p:nvPr/>
        </p:nvSpPr>
        <p:spPr>
          <a:xfrm>
            <a:off x="640080" y="6450000"/>
            <a:ext cx="10911840" cy="300000"/>
          </a:xfrm>
          <a:prstGeom prst="rect">
            <a:avLst/>
          </a:prstGeom>
        </p:spPr>
        <p:txBody>
          <a:bodyPr wrap="square" lIns="0" tIns="0" rIns="0" bIns="0"/>
          <a:lstStyle/>
          <a:p>
            <a:pPr>
              <a:spcAft>
                <a:spcPts val="0"/>
              </a:spcAft>
            </a:pPr>
            <a:r>
              <a:rPr lang="en-US" sz="1000">
                <a:solidFill>
                  <a:srgbClr val="8A93A6"/>
                </a:solidFill>
                <a:latin typeface="Calibri"/>
              </a:rPr>
              <a:t>Rainne &amp; Mikhail   ·   Learning Mathematics Through the Machine</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3046</Words>
  <Application>Microsoft Macintosh PowerPoint</Application>
  <PresentationFormat>Widescreen</PresentationFormat>
  <Paragraphs>201</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Mikhail Delos Trinos</cp:lastModifiedBy>
  <cp:revision>1</cp:revision>
  <dcterms:modified xsi:type="dcterms:W3CDTF">2026-06-17T15:22:44Z</dcterms:modified>
</cp:coreProperties>
</file>